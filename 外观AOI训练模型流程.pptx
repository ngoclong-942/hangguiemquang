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21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13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9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09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83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9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11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1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07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825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1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5B7C4-32C2-418B-B76D-477F4D988D70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85E74-D672-44BD-B423-2C4CE3E11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32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13890" y="84660"/>
            <a:ext cx="40384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外观</a:t>
            </a:r>
            <a:r>
              <a:rPr lang="en-US" altLang="zh-CN" sz="3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AOI</a:t>
            </a:r>
            <a:r>
              <a:rPr lang="zh-CN" altLang="en-US" sz="3000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训练模型流程</a:t>
            </a:r>
            <a:endParaRPr lang="en-US" sz="3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5152" y="951733"/>
            <a:ext cx="1861456" cy="503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+mn-ea"/>
              </a:rPr>
              <a:t>自动拍照存图</a:t>
            </a:r>
            <a:endParaRPr lang="en-US" dirty="0">
              <a:latin typeface="+mn-ea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29608" y="951733"/>
            <a:ext cx="1882451" cy="503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截取检查位置</a:t>
            </a:r>
            <a:endParaRPr lang="en-US" dirty="0">
              <a:latin typeface="+mn-ea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754197" y="951733"/>
            <a:ext cx="1688841" cy="503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训</a:t>
            </a:r>
            <a:r>
              <a:rPr lang="zh-CN" altLang="en-US" dirty="0" smtClean="0">
                <a:latin typeface="+mn-ea"/>
              </a:rPr>
              <a:t>练模型</a:t>
            </a:r>
            <a:endParaRPr lang="en-US" dirty="0">
              <a:latin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685176" y="951734"/>
            <a:ext cx="1688841" cy="50385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+mn-ea"/>
              </a:rPr>
              <a:t>验证</a:t>
            </a:r>
            <a:r>
              <a:rPr lang="zh-CN" altLang="en-US" dirty="0" smtClean="0">
                <a:latin typeface="+mn-ea"/>
              </a:rPr>
              <a:t>结果</a:t>
            </a:r>
            <a:endParaRPr lang="en-US" dirty="0">
              <a:latin typeface="+mn-ea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2986961" y="1077695"/>
            <a:ext cx="335902" cy="251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5965177" y="1077695"/>
            <a:ext cx="335902" cy="251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8896156" y="1077695"/>
            <a:ext cx="335902" cy="25192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19173" y="2133564"/>
            <a:ext cx="3526970" cy="3452327"/>
          </a:xfrm>
          <a:prstGeom prst="rect">
            <a:avLst/>
          </a:prstGeom>
          <a:solidFill>
            <a:schemeClr val="bg1"/>
          </a:solidFill>
          <a:ln w="1587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1"/>
          <p:cNvSpPr/>
          <p:nvPr/>
        </p:nvSpPr>
        <p:spPr>
          <a:xfrm>
            <a:off x="1223001" y="5848367"/>
            <a:ext cx="2091222" cy="44786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DengXian (Body)"/>
              </a:rPr>
              <a:t>收集图片</a:t>
            </a:r>
            <a:endParaRPr lang="en-US" dirty="0">
              <a:solidFill>
                <a:schemeClr val="tx1"/>
              </a:solidFill>
              <a:latin typeface="DengXian (Body)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87517" y="5896365"/>
            <a:ext cx="2091222" cy="44786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DengXian (Body)"/>
              </a:rPr>
              <a:t>训练模型过程</a:t>
            </a:r>
            <a:endParaRPr lang="en-US" dirty="0">
              <a:solidFill>
                <a:schemeClr val="tx1"/>
              </a:solidFill>
              <a:latin typeface="DengXian (Body)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81243" y="5896365"/>
            <a:ext cx="2091222" cy="447869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  <a:latin typeface="DengXian (Body)"/>
              </a:rPr>
              <a:t>验证</a:t>
            </a:r>
            <a:endParaRPr lang="en-US" dirty="0">
              <a:solidFill>
                <a:schemeClr val="tx1"/>
              </a:solidFill>
              <a:latin typeface="DengXian (Body)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351613" y="2145053"/>
            <a:ext cx="3526970" cy="345232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sp>
        <p:nvSpPr>
          <p:cNvPr id="43" name="Down Arrow 42"/>
          <p:cNvSpPr/>
          <p:nvPr/>
        </p:nvSpPr>
        <p:spPr>
          <a:xfrm>
            <a:off x="4983544" y="2871350"/>
            <a:ext cx="262037" cy="3194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490733" y="2606006"/>
            <a:ext cx="13519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latin typeface="+mn-ea"/>
              </a:rPr>
              <a:t>(1) </a:t>
            </a:r>
            <a:r>
              <a:rPr lang="zh-CN" altLang="en-US" sz="1000" dirty="0" smtClean="0">
                <a:latin typeface="+mn-ea"/>
              </a:rPr>
              <a:t>制作新</a:t>
            </a:r>
            <a:r>
              <a:rPr lang="en-US" altLang="zh-CN" sz="1000" dirty="0" smtClean="0">
                <a:latin typeface="+mn-ea"/>
              </a:rPr>
              <a:t>Project</a:t>
            </a:r>
            <a:endParaRPr lang="en-US" sz="1000" dirty="0">
              <a:latin typeface="+mn-ea"/>
            </a:endParaRPr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07" y="3226070"/>
            <a:ext cx="1326315" cy="77550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4374456" y="3972925"/>
            <a:ext cx="14681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ea"/>
              </a:rPr>
              <a:t>(2) </a:t>
            </a:r>
            <a:r>
              <a:rPr lang="zh-CN" altLang="en-US" sz="1000" dirty="0" smtClean="0">
                <a:latin typeface="+mn-ea"/>
              </a:rPr>
              <a:t>制</a:t>
            </a:r>
            <a:r>
              <a:rPr lang="zh-CN" altLang="en-US" sz="1000" dirty="0">
                <a:latin typeface="+mn-ea"/>
              </a:rPr>
              <a:t>作</a:t>
            </a:r>
            <a:r>
              <a:rPr lang="en-US" sz="1000" dirty="0" smtClean="0">
                <a:latin typeface="+mn-ea"/>
              </a:rPr>
              <a:t>labeling Job</a:t>
            </a:r>
            <a:endParaRPr lang="en-US" sz="1000" dirty="0">
              <a:latin typeface="+mn-ea"/>
            </a:endParaRPr>
          </a:p>
        </p:txBody>
      </p:sp>
      <p:sp>
        <p:nvSpPr>
          <p:cNvPr id="58" name="Right Arrow 57"/>
          <p:cNvSpPr/>
          <p:nvPr/>
        </p:nvSpPr>
        <p:spPr>
          <a:xfrm>
            <a:off x="5937297" y="4875603"/>
            <a:ext cx="371836" cy="2827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490732" y="5295684"/>
            <a:ext cx="13519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ea"/>
              </a:rPr>
              <a:t>(3) </a:t>
            </a:r>
            <a:r>
              <a:rPr lang="zh-CN" altLang="en-US" sz="1000" dirty="0" smtClean="0">
                <a:latin typeface="+mn-ea"/>
              </a:rPr>
              <a:t>制作</a:t>
            </a:r>
            <a:r>
              <a:rPr lang="en-US" sz="1000" dirty="0" smtClean="0">
                <a:latin typeface="+mn-ea"/>
              </a:rPr>
              <a:t>categories  </a:t>
            </a:r>
            <a:endParaRPr lang="en-US" sz="1000" dirty="0">
              <a:latin typeface="+mn-ea"/>
            </a:endParaRPr>
          </a:p>
        </p:txBody>
      </p:sp>
      <p:sp>
        <p:nvSpPr>
          <p:cNvPr id="62" name="Down Arrow 61"/>
          <p:cNvSpPr/>
          <p:nvPr/>
        </p:nvSpPr>
        <p:spPr>
          <a:xfrm>
            <a:off x="4983544" y="4278413"/>
            <a:ext cx="262037" cy="31943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pic>
        <p:nvPicPr>
          <p:cNvPr id="60" name="Picture 5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591" y="4485876"/>
            <a:ext cx="1337851" cy="680393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388009" y="5170103"/>
            <a:ext cx="14430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ea"/>
              </a:rPr>
              <a:t>(4) </a:t>
            </a:r>
            <a:r>
              <a:rPr lang="zh-CN" altLang="en-US" sz="1000" dirty="0">
                <a:latin typeface="+mn-ea"/>
              </a:rPr>
              <a:t>上传</a:t>
            </a:r>
            <a:r>
              <a:rPr lang="zh-CN" altLang="en-US" sz="1000" dirty="0" smtClean="0">
                <a:latin typeface="+mn-ea"/>
              </a:rPr>
              <a:t>图片对应于</a:t>
            </a:r>
            <a:endParaRPr lang="en-US" altLang="zh-CN" sz="1000" dirty="0" smtClean="0">
              <a:latin typeface="+mn-ea"/>
            </a:endParaRPr>
          </a:p>
          <a:p>
            <a:pPr algn="ctr"/>
            <a:r>
              <a:rPr lang="zh-CN" altLang="en-US" sz="1000" dirty="0" smtClean="0">
                <a:latin typeface="+mn-ea"/>
              </a:rPr>
              <a:t>已</a:t>
            </a:r>
            <a:r>
              <a:rPr lang="zh-CN" altLang="en-US" sz="1000" dirty="0">
                <a:latin typeface="+mn-ea"/>
              </a:rPr>
              <a:t>生成</a:t>
            </a:r>
            <a:r>
              <a:rPr lang="zh-CN" altLang="en-US" sz="1000" dirty="0" smtClean="0">
                <a:latin typeface="+mn-ea"/>
              </a:rPr>
              <a:t>的</a:t>
            </a:r>
            <a:r>
              <a:rPr lang="en-US" altLang="zh-CN" sz="1000" dirty="0" err="1" smtClean="0">
                <a:latin typeface="+mn-ea"/>
              </a:rPr>
              <a:t>Catergories</a:t>
            </a:r>
            <a:endParaRPr lang="en-US" sz="1000" dirty="0">
              <a:latin typeface="+mn-ea"/>
            </a:endParaRPr>
          </a:p>
        </p:txBody>
      </p:sp>
      <p:sp>
        <p:nvSpPr>
          <p:cNvPr id="63" name="Up Arrow 62"/>
          <p:cNvSpPr/>
          <p:nvPr/>
        </p:nvSpPr>
        <p:spPr>
          <a:xfrm>
            <a:off x="7000099" y="4112154"/>
            <a:ext cx="244131" cy="32638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403096" y="3803207"/>
            <a:ext cx="14128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ea"/>
              </a:rPr>
              <a:t>(5)</a:t>
            </a:r>
            <a:r>
              <a:rPr lang="zh-CN" altLang="en-US" sz="1000" dirty="0" smtClean="0">
                <a:latin typeface="+mn-ea"/>
              </a:rPr>
              <a:t>选择资料训练</a:t>
            </a:r>
            <a:endParaRPr lang="en-US" sz="1000" dirty="0"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297774" y="2883105"/>
            <a:ext cx="158741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>
                <a:latin typeface="+mn-ea"/>
              </a:rPr>
              <a:t>(6) </a:t>
            </a:r>
            <a:r>
              <a:rPr lang="zh-CN" altLang="en-US" sz="1000" dirty="0">
                <a:latin typeface="+mn-ea"/>
              </a:rPr>
              <a:t>系</a:t>
            </a:r>
            <a:r>
              <a:rPr lang="zh-CN" altLang="en-US" sz="1000" dirty="0" smtClean="0">
                <a:latin typeface="+mn-ea"/>
              </a:rPr>
              <a:t>统传回训练结果</a:t>
            </a:r>
            <a:r>
              <a:rPr lang="en-US" sz="1000" dirty="0" smtClean="0">
                <a:latin typeface="+mn-ea"/>
              </a:rPr>
              <a:t> </a:t>
            </a:r>
            <a:endParaRPr lang="en-US" sz="1000" dirty="0">
              <a:latin typeface="+mn-ea"/>
            </a:endParaRPr>
          </a:p>
        </p:txBody>
      </p:sp>
      <p:sp>
        <p:nvSpPr>
          <p:cNvPr id="81" name="Up Arrow 80"/>
          <p:cNvSpPr/>
          <p:nvPr/>
        </p:nvSpPr>
        <p:spPr>
          <a:xfrm>
            <a:off x="7000099" y="3095517"/>
            <a:ext cx="244131" cy="326385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289878" y="2204575"/>
            <a:ext cx="1650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latin typeface="DengXian (Body)"/>
              </a:rPr>
              <a:t>CAMBRAIN SYSTEM</a:t>
            </a:r>
            <a:endParaRPr lang="en-US" sz="1200" b="1" dirty="0">
              <a:latin typeface="DengXian (Body)"/>
            </a:endParaRPr>
          </a:p>
        </p:txBody>
      </p:sp>
      <p:grpSp>
        <p:nvGrpSpPr>
          <p:cNvPr id="112" name="Group 111"/>
          <p:cNvGrpSpPr/>
          <p:nvPr/>
        </p:nvGrpSpPr>
        <p:grpSpPr>
          <a:xfrm>
            <a:off x="505127" y="2133564"/>
            <a:ext cx="3526970" cy="3452327"/>
            <a:chOff x="505127" y="2133564"/>
            <a:chExt cx="3526970" cy="3452327"/>
          </a:xfrm>
        </p:grpSpPr>
        <p:grpSp>
          <p:nvGrpSpPr>
            <p:cNvPr id="41" name="Group 40"/>
            <p:cNvGrpSpPr/>
            <p:nvPr/>
          </p:nvGrpSpPr>
          <p:grpSpPr>
            <a:xfrm>
              <a:off x="505127" y="2133564"/>
              <a:ext cx="3526970" cy="3452327"/>
              <a:chOff x="505127" y="2133564"/>
              <a:chExt cx="3526970" cy="3452327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505127" y="2133564"/>
                <a:ext cx="3526970" cy="34523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00">
                  <a:latin typeface="+mn-ea"/>
                </a:endParaRPr>
              </a:p>
            </p:txBody>
          </p:sp>
          <p:pic>
            <p:nvPicPr>
              <p:cNvPr id="1026" name="Picture 2" descr="computer icon symbol sign 648401 Vector Art at Vecteezy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6346" y="2382699"/>
                <a:ext cx="1063104" cy="10631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7" name="Straight Arrow Connector 36"/>
              <p:cNvCxnSpPr/>
              <p:nvPr/>
            </p:nvCxnSpPr>
            <p:spPr>
              <a:xfrm>
                <a:off x="1834738" y="2969066"/>
                <a:ext cx="1067771" cy="525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Arrow Connector 38"/>
              <p:cNvCxnSpPr/>
              <p:nvPr/>
            </p:nvCxnSpPr>
            <p:spPr>
              <a:xfrm flipH="1">
                <a:off x="1778065" y="3107107"/>
                <a:ext cx="1086433" cy="20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1775765" y="2586582"/>
                <a:ext cx="112674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00" dirty="0" smtClean="0">
                    <a:latin typeface="+mn-ea"/>
                  </a:rPr>
                  <a:t>拍照指令</a:t>
                </a:r>
                <a:endParaRPr lang="en-US" sz="1300" dirty="0">
                  <a:latin typeface="+mn-ea"/>
                </a:endParaRP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1775765" y="3074794"/>
                <a:ext cx="112674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00" dirty="0" smtClean="0">
                    <a:latin typeface="+mn-ea"/>
                  </a:rPr>
                  <a:t>图像</a:t>
                </a:r>
                <a:r>
                  <a:rPr lang="zh-CN" altLang="en-US" sz="1300" dirty="0">
                    <a:latin typeface="+mn-ea"/>
                  </a:rPr>
                  <a:t>回转</a:t>
                </a:r>
                <a:endParaRPr lang="en-US" sz="1300" dirty="0">
                  <a:latin typeface="+mn-ea"/>
                </a:endParaRP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639035" y="4819244"/>
                <a:ext cx="1412768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300" dirty="0" smtClean="0">
                    <a:latin typeface="+mn-ea"/>
                  </a:rPr>
                  <a:t>截取检查位置</a:t>
                </a:r>
                <a:endParaRPr lang="en-US" sz="1300" dirty="0">
                  <a:latin typeface="+mn-ea"/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1528055" y="3558749"/>
              <a:ext cx="384721" cy="91906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endParaRPr lang="en-US" sz="1300" dirty="0">
                <a:latin typeface="+mn-ea"/>
              </a:endParaRPr>
            </a:p>
          </p:txBody>
        </p:sp>
        <p:pic>
          <p:nvPicPr>
            <p:cNvPr id="45" name="Picture 44"/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-2849"/>
            <a:stretch/>
          </p:blipFill>
          <p:spPr>
            <a:xfrm>
              <a:off x="702041" y="4045160"/>
              <a:ext cx="1330453" cy="664845"/>
            </a:xfrm>
            <a:prstGeom prst="rect">
              <a:avLst/>
            </a:prstGeom>
          </p:spPr>
        </p:pic>
        <p:sp>
          <p:nvSpPr>
            <p:cNvPr id="85" name="Down Arrow 84"/>
            <p:cNvSpPr/>
            <p:nvPr/>
          </p:nvSpPr>
          <p:spPr>
            <a:xfrm>
              <a:off x="1237279" y="3653490"/>
              <a:ext cx="262037" cy="31943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00">
                <a:latin typeface="+mn-ea"/>
              </a:endParaRPr>
            </a:p>
          </p:txBody>
        </p:sp>
        <p:pic>
          <p:nvPicPr>
            <p:cNvPr id="1027" name="Picture 3" descr="7cc8564d-6b6c-4367-abab-eaa04153c3b0@intra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3578" y="2484030"/>
              <a:ext cx="987450" cy="12460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11" name="Group 110"/>
          <p:cNvGrpSpPr/>
          <p:nvPr/>
        </p:nvGrpSpPr>
        <p:grpSpPr>
          <a:xfrm>
            <a:off x="2183363" y="4485876"/>
            <a:ext cx="4895736" cy="1270701"/>
            <a:chOff x="2183363" y="4485876"/>
            <a:chExt cx="4895736" cy="1270701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2183363" y="4485876"/>
              <a:ext cx="2045648" cy="0"/>
            </a:xfrm>
            <a:prstGeom prst="line">
              <a:avLst/>
            </a:prstGeom>
            <a:ln w="19050" cmpd="sng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>
              <a:off x="4229011" y="4485876"/>
              <a:ext cx="0" cy="1251513"/>
            </a:xfrm>
            <a:prstGeom prst="line">
              <a:avLst/>
            </a:prstGeom>
            <a:ln w="19050" cmpd="sng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>
              <a:off x="4229011" y="5731308"/>
              <a:ext cx="2842982" cy="18075"/>
            </a:xfrm>
            <a:prstGeom prst="line">
              <a:avLst/>
            </a:prstGeom>
            <a:ln w="19050" cmpd="sng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 flipV="1">
              <a:off x="7071993" y="5585891"/>
              <a:ext cx="7106" cy="170686"/>
            </a:xfrm>
            <a:prstGeom prst="straightConnector1">
              <a:avLst/>
            </a:prstGeom>
            <a:ln w="19050" cmpd="sng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3" name="Picture 11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6392" y="3732733"/>
            <a:ext cx="1530155" cy="955922"/>
          </a:xfrm>
          <a:prstGeom prst="rect">
            <a:avLst/>
          </a:prstGeom>
        </p:spPr>
      </p:pic>
      <p:pic>
        <p:nvPicPr>
          <p:cNvPr id="114" name="Picture 11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793" y="3732733"/>
            <a:ext cx="1497104" cy="935274"/>
          </a:xfrm>
          <a:prstGeom prst="rect">
            <a:avLst/>
          </a:prstGeom>
        </p:spPr>
      </p:pic>
      <p:pic>
        <p:nvPicPr>
          <p:cNvPr id="118" name="Picture 2" descr="computer icon symbol sign 648401 Vector Art at Vecteez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1106" y="2171279"/>
            <a:ext cx="1063104" cy="1063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" name="Group 121"/>
          <p:cNvGrpSpPr/>
          <p:nvPr/>
        </p:nvGrpSpPr>
        <p:grpSpPr>
          <a:xfrm>
            <a:off x="8937047" y="3194466"/>
            <a:ext cx="1870433" cy="538267"/>
            <a:chOff x="8937047" y="3421902"/>
            <a:chExt cx="1870433" cy="538267"/>
          </a:xfrm>
        </p:grpSpPr>
        <p:cxnSp>
          <p:nvCxnSpPr>
            <p:cNvPr id="116" name="Straight Connector 115"/>
            <p:cNvCxnSpPr/>
            <p:nvPr/>
          </p:nvCxnSpPr>
          <p:spPr>
            <a:xfrm>
              <a:off x="8937047" y="3424283"/>
              <a:ext cx="1870433" cy="0"/>
            </a:xfrm>
            <a:prstGeom prst="line">
              <a:avLst/>
            </a:prstGeom>
            <a:ln w="15875" cmpd="sng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>
              <a:off x="8944190" y="3421902"/>
              <a:ext cx="0" cy="538267"/>
            </a:xfrm>
            <a:prstGeom prst="straightConnector1">
              <a:avLst/>
            </a:prstGeom>
            <a:ln w="15875" cmpd="sng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>
              <a:off x="10797956" y="3421902"/>
              <a:ext cx="0" cy="538267"/>
            </a:xfrm>
            <a:prstGeom prst="straightConnector1">
              <a:avLst/>
            </a:prstGeom>
            <a:ln w="15875" cmpd="sng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5" name="TextBox 124"/>
          <p:cNvSpPr txBox="1"/>
          <p:nvPr/>
        </p:nvSpPr>
        <p:spPr>
          <a:xfrm>
            <a:off x="9639709" y="2961409"/>
            <a:ext cx="77429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>
                <a:latin typeface="+mn-ea"/>
              </a:rPr>
              <a:t>OTA</a:t>
            </a:r>
            <a:r>
              <a:rPr lang="zh-CN" altLang="en-US" sz="1000" dirty="0" smtClean="0">
                <a:latin typeface="+mn-ea"/>
              </a:rPr>
              <a:t>电脑</a:t>
            </a:r>
            <a:endParaRPr lang="en-US" sz="1000" dirty="0">
              <a:latin typeface="+mn-ea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876102" y="4698916"/>
            <a:ext cx="5307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smtClean="0">
                <a:solidFill>
                  <a:schemeClr val="accent6"/>
                </a:solidFill>
                <a:latin typeface="+mn-ea"/>
              </a:rPr>
              <a:t>PASS</a:t>
            </a:r>
            <a:endParaRPr lang="en-US" sz="1000" b="1" dirty="0">
              <a:solidFill>
                <a:schemeClr val="accent6"/>
              </a:solidFill>
              <a:latin typeface="+mn-ea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10600141" y="4698916"/>
            <a:ext cx="4524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 smtClean="0">
                <a:solidFill>
                  <a:srgbClr val="FF0000"/>
                </a:solidFill>
                <a:latin typeface="+mn-ea"/>
              </a:rPr>
              <a:t>FAIL</a:t>
            </a:r>
            <a:endParaRPr lang="en-US" sz="10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025" name="TextBox 1024"/>
          <p:cNvSpPr txBox="1"/>
          <p:nvPr/>
        </p:nvSpPr>
        <p:spPr>
          <a:xfrm>
            <a:off x="8416089" y="5018065"/>
            <a:ext cx="31588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b="1" dirty="0" smtClean="0"/>
              <a:t>训练模型后，在</a:t>
            </a:r>
            <a:r>
              <a:rPr lang="en-US" altLang="zh-CN" sz="1000" b="1" dirty="0" smtClean="0"/>
              <a:t>OTA</a:t>
            </a:r>
            <a:r>
              <a:rPr lang="zh-CN" altLang="en-US" sz="1000" b="1" dirty="0" smtClean="0"/>
              <a:t>电脑上进行测试结果。如果相机能</a:t>
            </a:r>
            <a:r>
              <a:rPr lang="en-US" altLang="zh-CN" sz="1000" b="1" dirty="0" smtClean="0"/>
              <a:t>100%</a:t>
            </a:r>
            <a:r>
              <a:rPr lang="zh-CN" altLang="en-US" sz="1000" b="1" dirty="0" smtClean="0"/>
              <a:t>抓到所有的</a:t>
            </a:r>
            <a:r>
              <a:rPr lang="en-US" altLang="zh-CN" sz="1000" b="1" dirty="0" smtClean="0"/>
              <a:t>Categories</a:t>
            </a:r>
            <a:r>
              <a:rPr lang="zh-CN" altLang="en-US" sz="1000" b="1" dirty="0" smtClean="0"/>
              <a:t>，说明训练成功。</a:t>
            </a:r>
            <a:endParaRPr lang="en-US" sz="1000" b="1" dirty="0"/>
          </a:p>
        </p:txBody>
      </p:sp>
      <p:sp>
        <p:nvSpPr>
          <p:cNvPr id="1028" name="TextBox 1027"/>
          <p:cNvSpPr txBox="1"/>
          <p:nvPr/>
        </p:nvSpPr>
        <p:spPr>
          <a:xfrm>
            <a:off x="3061725" y="3780335"/>
            <a:ext cx="8611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latin typeface="+mn-ea"/>
              </a:rPr>
              <a:t>工业相机</a:t>
            </a:r>
            <a:endParaRPr lang="en-US" sz="1000" dirty="0">
              <a:latin typeface="+mn-ea"/>
            </a:endParaRPr>
          </a:p>
        </p:txBody>
      </p:sp>
      <p:pic>
        <p:nvPicPr>
          <p:cNvPr id="1029" name="Picture 1028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272" y="4668150"/>
            <a:ext cx="1366367" cy="592393"/>
          </a:xfrm>
          <a:prstGeom prst="rect">
            <a:avLst/>
          </a:prstGeom>
        </p:spPr>
      </p:pic>
      <p:pic>
        <p:nvPicPr>
          <p:cNvPr id="1030" name="Picture 1029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745" y="3437580"/>
            <a:ext cx="1417723" cy="378502"/>
          </a:xfrm>
          <a:prstGeom prst="rect">
            <a:avLst/>
          </a:prstGeom>
        </p:spPr>
      </p:pic>
      <p:pic>
        <p:nvPicPr>
          <p:cNvPr id="1031" name="Picture 1030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809" y="2510358"/>
            <a:ext cx="1544214" cy="30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607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160</Words>
  <Application>Microsoft Office PowerPoint</Application>
  <PresentationFormat>Widescreen</PresentationFormat>
  <Paragraphs>24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等线</vt:lpstr>
      <vt:lpstr>DengXian (Body)</vt:lpstr>
      <vt:lpstr>微軟正黑體</vt:lpstr>
      <vt:lpstr>Arial</vt:lpstr>
      <vt:lpstr>Calibri</vt:lpstr>
      <vt:lpstr>Calibri Light</vt:lpstr>
      <vt:lpstr>Office Theme</vt:lpstr>
      <vt:lpstr>PowerPoint Presentation</vt:lpstr>
    </vt:vector>
  </TitlesOfParts>
  <Company>Nothing1010.blogspot.com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Emma1 Ho(HỒ THỊ VÂN_PVN)</dc:creator>
  <cp:lastModifiedBy>Emma1 Ho(HỒ THỊ VÂN_PVN)</cp:lastModifiedBy>
  <cp:revision>25</cp:revision>
  <dcterms:created xsi:type="dcterms:W3CDTF">2025-05-05T01:47:06Z</dcterms:created>
  <dcterms:modified xsi:type="dcterms:W3CDTF">2025-05-05T04:29:05Z</dcterms:modified>
</cp:coreProperties>
</file>