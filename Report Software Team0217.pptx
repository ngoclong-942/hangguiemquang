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5"/>
  </p:handoutMasterIdLst>
  <p:sldIdLst>
    <p:sldId id="256" r:id="rId3"/>
    <p:sldId id="257" r:id="rId4"/>
    <p:sldId id="280" r:id="rId6"/>
    <p:sldId id="315" r:id="rId7"/>
    <p:sldId id="260" r:id="rId8"/>
    <p:sldId id="311" r:id="rId9"/>
    <p:sldId id="261" r:id="rId10"/>
    <p:sldId id="266" r:id="rId11"/>
    <p:sldId id="312" r:id="rId12"/>
    <p:sldId id="272" r:id="rId13"/>
    <p:sldId id="313" r:id="rId14"/>
    <p:sldId id="303" r:id="rId15"/>
    <p:sldId id="314" r:id="rId16"/>
    <p:sldId id="298" r:id="rId17"/>
    <p:sldId id="299" r:id="rId18"/>
    <p:sldId id="300" r:id="rId19"/>
    <p:sldId id="301" r:id="rId20"/>
    <p:sldId id="302" r:id="rId21"/>
    <p:sldId id="304" r:id="rId22"/>
    <p:sldId id="269" r:id="rId23"/>
    <p:sldId id="270" r:id="rId2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B60"/>
    <a:srgbClr val="FFFF00"/>
    <a:srgbClr val="000069"/>
    <a:srgbClr val="414E5F"/>
    <a:srgbClr val="3D3859"/>
    <a:srgbClr val="082B94"/>
    <a:srgbClr val="B0DBFC"/>
    <a:srgbClr val="D1E3EE"/>
    <a:srgbClr val="0A142F"/>
    <a:srgbClr val="BD7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53" y="48"/>
      </p:cViewPr>
      <p:guideLst>
        <p:guide orient="horz" pos="2058"/>
        <p:guide pos="390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1105963"/>
        <c:axId val="783148915"/>
      </c:barChart>
      <c:catAx>
        <c:axId val="99110596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83148915"/>
        <c:crosses val="autoZero"/>
        <c:auto val="1"/>
        <c:lblAlgn val="ctr"/>
        <c:lblOffset val="100"/>
        <c:noMultiLvlLbl val="0"/>
      </c:catAx>
      <c:valAx>
        <c:axId val="7831489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11059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grpSp>
        <p:nvGrpSpPr>
          <p:cNvPr id="21" name="群組 20"/>
          <p:cNvGrpSpPr/>
          <p:nvPr userDrawn="1"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22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/>
            </a:p>
          </p:txBody>
        </p:sp>
        <p:grpSp>
          <p:nvGrpSpPr>
            <p:cNvPr id="23" name="群組 22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24" name="文字方塊 23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6350"/>
            <a:ext cx="10036810" cy="6844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806" h="10779">
                <a:moveTo>
                  <a:pt x="10492" y="4939"/>
                </a:moveTo>
                <a:lnTo>
                  <a:pt x="10499" y="4950"/>
                </a:lnTo>
                <a:cubicBezTo>
                  <a:pt x="10511" y="4972"/>
                  <a:pt x="10523" y="4996"/>
                  <a:pt x="10534" y="5025"/>
                </a:cubicBezTo>
                <a:lnTo>
                  <a:pt x="10630" y="5274"/>
                </a:lnTo>
                <a:lnTo>
                  <a:pt x="10492" y="5274"/>
                </a:lnTo>
                <a:lnTo>
                  <a:pt x="10492" y="4939"/>
                </a:lnTo>
                <a:close/>
                <a:moveTo>
                  <a:pt x="10492" y="4367"/>
                </a:moveTo>
                <a:lnTo>
                  <a:pt x="10497" y="4370"/>
                </a:lnTo>
                <a:cubicBezTo>
                  <a:pt x="10554" y="4415"/>
                  <a:pt x="10583" y="4479"/>
                  <a:pt x="10583" y="4563"/>
                </a:cubicBezTo>
                <a:cubicBezTo>
                  <a:pt x="10583" y="4631"/>
                  <a:pt x="10564" y="4687"/>
                  <a:pt x="10526" y="4733"/>
                </a:cubicBezTo>
                <a:cubicBezTo>
                  <a:pt x="10516" y="4744"/>
                  <a:pt x="10506" y="4755"/>
                  <a:pt x="10494" y="4765"/>
                </a:cubicBezTo>
                <a:lnTo>
                  <a:pt x="10492" y="4766"/>
                </a:lnTo>
                <a:lnTo>
                  <a:pt x="10492" y="4367"/>
                </a:lnTo>
                <a:close/>
                <a:moveTo>
                  <a:pt x="10743" y="4294"/>
                </a:moveTo>
                <a:lnTo>
                  <a:pt x="11353" y="4294"/>
                </a:lnTo>
                <a:lnTo>
                  <a:pt x="11353" y="4525"/>
                </a:lnTo>
                <a:lnTo>
                  <a:pt x="11038" y="4525"/>
                </a:lnTo>
                <a:lnTo>
                  <a:pt x="11038" y="4668"/>
                </a:lnTo>
                <a:lnTo>
                  <a:pt x="11334" y="4668"/>
                </a:lnTo>
                <a:lnTo>
                  <a:pt x="11334" y="4899"/>
                </a:lnTo>
                <a:lnTo>
                  <a:pt x="11038" y="4899"/>
                </a:lnTo>
                <a:lnTo>
                  <a:pt x="11038" y="5043"/>
                </a:lnTo>
                <a:lnTo>
                  <a:pt x="11376" y="5043"/>
                </a:lnTo>
                <a:lnTo>
                  <a:pt x="11376" y="5274"/>
                </a:lnTo>
                <a:lnTo>
                  <a:pt x="10743" y="5274"/>
                </a:lnTo>
                <a:lnTo>
                  <a:pt x="10743" y="4294"/>
                </a:lnTo>
                <a:close/>
                <a:moveTo>
                  <a:pt x="11829" y="4294"/>
                </a:moveTo>
                <a:lnTo>
                  <a:pt x="12678" y="4294"/>
                </a:lnTo>
                <a:lnTo>
                  <a:pt x="12678" y="4525"/>
                </a:lnTo>
                <a:lnTo>
                  <a:pt x="12400" y="4525"/>
                </a:lnTo>
                <a:lnTo>
                  <a:pt x="12400" y="5274"/>
                </a:lnTo>
                <a:lnTo>
                  <a:pt x="12103" y="5274"/>
                </a:lnTo>
                <a:lnTo>
                  <a:pt x="12103" y="4525"/>
                </a:lnTo>
                <a:lnTo>
                  <a:pt x="11829" y="4525"/>
                </a:lnTo>
                <a:lnTo>
                  <a:pt x="11829" y="4294"/>
                </a:lnTo>
                <a:close/>
                <a:moveTo>
                  <a:pt x="12795" y="4294"/>
                </a:moveTo>
                <a:lnTo>
                  <a:pt x="13405" y="4294"/>
                </a:lnTo>
                <a:lnTo>
                  <a:pt x="13405" y="4525"/>
                </a:lnTo>
                <a:lnTo>
                  <a:pt x="13090" y="4525"/>
                </a:lnTo>
                <a:lnTo>
                  <a:pt x="13090" y="4668"/>
                </a:lnTo>
                <a:lnTo>
                  <a:pt x="13386" y="4668"/>
                </a:lnTo>
                <a:lnTo>
                  <a:pt x="13386" y="4899"/>
                </a:lnTo>
                <a:lnTo>
                  <a:pt x="13090" y="4899"/>
                </a:lnTo>
                <a:lnTo>
                  <a:pt x="13090" y="5043"/>
                </a:lnTo>
                <a:lnTo>
                  <a:pt x="13428" y="5043"/>
                </a:lnTo>
                <a:lnTo>
                  <a:pt x="13428" y="5274"/>
                </a:lnTo>
                <a:lnTo>
                  <a:pt x="12795" y="5274"/>
                </a:lnTo>
                <a:lnTo>
                  <a:pt x="12795" y="4294"/>
                </a:lnTo>
                <a:close/>
                <a:moveTo>
                  <a:pt x="13990" y="4507"/>
                </a:moveTo>
                <a:cubicBezTo>
                  <a:pt x="13989" y="4518"/>
                  <a:pt x="13986" y="4536"/>
                  <a:pt x="13980" y="4561"/>
                </a:cubicBezTo>
                <a:cubicBezTo>
                  <a:pt x="13975" y="4586"/>
                  <a:pt x="13947" y="4694"/>
                  <a:pt x="13897" y="4884"/>
                </a:cubicBezTo>
                <a:lnTo>
                  <a:pt x="14085" y="4884"/>
                </a:lnTo>
                <a:lnTo>
                  <a:pt x="14016" y="4617"/>
                </a:lnTo>
                <a:cubicBezTo>
                  <a:pt x="14007" y="4578"/>
                  <a:pt x="14000" y="4541"/>
                  <a:pt x="13996" y="4507"/>
                </a:cubicBezTo>
                <a:lnTo>
                  <a:pt x="13990" y="4507"/>
                </a:lnTo>
                <a:close/>
                <a:moveTo>
                  <a:pt x="13819" y="4294"/>
                </a:moveTo>
                <a:lnTo>
                  <a:pt x="14185" y="4294"/>
                </a:lnTo>
                <a:lnTo>
                  <a:pt x="14503" y="5274"/>
                </a:lnTo>
                <a:lnTo>
                  <a:pt x="14182" y="5274"/>
                </a:lnTo>
                <a:lnTo>
                  <a:pt x="14139" y="5094"/>
                </a:lnTo>
                <a:lnTo>
                  <a:pt x="13847" y="5094"/>
                </a:lnTo>
                <a:lnTo>
                  <a:pt x="13800" y="5274"/>
                </a:lnTo>
                <a:lnTo>
                  <a:pt x="13481" y="5274"/>
                </a:lnTo>
                <a:lnTo>
                  <a:pt x="13819" y="4294"/>
                </a:lnTo>
                <a:close/>
                <a:moveTo>
                  <a:pt x="14617" y="4294"/>
                </a:moveTo>
                <a:lnTo>
                  <a:pt x="15059" y="4294"/>
                </a:lnTo>
                <a:lnTo>
                  <a:pt x="15194" y="4827"/>
                </a:lnTo>
                <a:cubicBezTo>
                  <a:pt x="15197" y="4838"/>
                  <a:pt x="15201" y="4860"/>
                  <a:pt x="15207" y="4893"/>
                </a:cubicBezTo>
                <a:cubicBezTo>
                  <a:pt x="15212" y="4927"/>
                  <a:pt x="15215" y="4953"/>
                  <a:pt x="15217" y="4971"/>
                </a:cubicBezTo>
                <a:lnTo>
                  <a:pt x="15221" y="4971"/>
                </a:lnTo>
                <a:cubicBezTo>
                  <a:pt x="15226" y="4930"/>
                  <a:pt x="15234" y="4881"/>
                  <a:pt x="15245" y="4824"/>
                </a:cubicBezTo>
                <a:lnTo>
                  <a:pt x="15370" y="4294"/>
                </a:lnTo>
                <a:lnTo>
                  <a:pt x="15806" y="4294"/>
                </a:lnTo>
                <a:lnTo>
                  <a:pt x="15806" y="5274"/>
                </a:lnTo>
                <a:lnTo>
                  <a:pt x="15515" y="5274"/>
                </a:lnTo>
                <a:lnTo>
                  <a:pt x="15515" y="4737"/>
                </a:lnTo>
                <a:cubicBezTo>
                  <a:pt x="15515" y="4686"/>
                  <a:pt x="15517" y="4631"/>
                  <a:pt x="15520" y="4570"/>
                </a:cubicBezTo>
                <a:lnTo>
                  <a:pt x="15522" y="4525"/>
                </a:lnTo>
                <a:lnTo>
                  <a:pt x="15514" y="4525"/>
                </a:lnTo>
                <a:cubicBezTo>
                  <a:pt x="15499" y="4602"/>
                  <a:pt x="15488" y="4655"/>
                  <a:pt x="15480" y="4685"/>
                </a:cubicBezTo>
                <a:lnTo>
                  <a:pt x="15336" y="5274"/>
                </a:lnTo>
                <a:lnTo>
                  <a:pt x="15058" y="5274"/>
                </a:lnTo>
                <a:lnTo>
                  <a:pt x="14907" y="4692"/>
                </a:lnTo>
                <a:cubicBezTo>
                  <a:pt x="14903" y="4677"/>
                  <a:pt x="14892" y="4622"/>
                  <a:pt x="14875" y="4525"/>
                </a:cubicBezTo>
                <a:lnTo>
                  <a:pt x="14866" y="4525"/>
                </a:lnTo>
                <a:cubicBezTo>
                  <a:pt x="14873" y="4678"/>
                  <a:pt x="14876" y="4774"/>
                  <a:pt x="14876" y="4812"/>
                </a:cubicBezTo>
                <a:lnTo>
                  <a:pt x="14876" y="5274"/>
                </a:lnTo>
                <a:lnTo>
                  <a:pt x="14617" y="5274"/>
                </a:lnTo>
                <a:lnTo>
                  <a:pt x="14617" y="4294"/>
                </a:lnTo>
                <a:close/>
                <a:moveTo>
                  <a:pt x="10492" y="4766"/>
                </a:moveTo>
                <a:lnTo>
                  <a:pt x="10492" y="4939"/>
                </a:lnTo>
                <a:lnTo>
                  <a:pt x="10489" y="4935"/>
                </a:lnTo>
                <a:cubicBezTo>
                  <a:pt x="10480" y="4920"/>
                  <a:pt x="10470" y="4908"/>
                  <a:pt x="10460" y="4897"/>
                </a:cubicBezTo>
                <a:cubicBezTo>
                  <a:pt x="10432" y="4868"/>
                  <a:pt x="10397" y="4847"/>
                  <a:pt x="10356" y="4835"/>
                </a:cubicBezTo>
                <a:lnTo>
                  <a:pt x="10356" y="4832"/>
                </a:lnTo>
                <a:cubicBezTo>
                  <a:pt x="10408" y="4818"/>
                  <a:pt x="10451" y="4798"/>
                  <a:pt x="10485" y="4772"/>
                </a:cubicBezTo>
                <a:lnTo>
                  <a:pt x="10492" y="4766"/>
                </a:lnTo>
                <a:close/>
                <a:moveTo>
                  <a:pt x="4990" y="4529"/>
                </a:moveTo>
                <a:cubicBezTo>
                  <a:pt x="5044" y="4529"/>
                  <a:pt x="5087" y="4552"/>
                  <a:pt x="5118" y="4599"/>
                </a:cubicBezTo>
                <a:cubicBezTo>
                  <a:pt x="5149" y="4645"/>
                  <a:pt x="5164" y="4709"/>
                  <a:pt x="5164" y="4789"/>
                </a:cubicBezTo>
                <a:cubicBezTo>
                  <a:pt x="5164" y="4841"/>
                  <a:pt x="5156" y="4885"/>
                  <a:pt x="5141" y="4923"/>
                </a:cubicBezTo>
                <a:cubicBezTo>
                  <a:pt x="5126" y="4960"/>
                  <a:pt x="5105" y="4989"/>
                  <a:pt x="5078" y="5009"/>
                </a:cubicBezTo>
                <a:cubicBezTo>
                  <a:pt x="5051" y="5029"/>
                  <a:pt x="5020" y="5039"/>
                  <a:pt x="4986" y="5039"/>
                </a:cubicBezTo>
                <a:cubicBezTo>
                  <a:pt x="4930" y="5039"/>
                  <a:pt x="4885" y="5017"/>
                  <a:pt x="4853" y="4972"/>
                </a:cubicBezTo>
                <a:cubicBezTo>
                  <a:pt x="4820" y="4927"/>
                  <a:pt x="4804" y="4865"/>
                  <a:pt x="4804" y="4785"/>
                </a:cubicBezTo>
                <a:cubicBezTo>
                  <a:pt x="4804" y="4704"/>
                  <a:pt x="4820" y="4641"/>
                  <a:pt x="4853" y="4596"/>
                </a:cubicBezTo>
                <a:cubicBezTo>
                  <a:pt x="4886" y="4551"/>
                  <a:pt x="4932" y="4529"/>
                  <a:pt x="4990" y="4529"/>
                </a:cubicBezTo>
                <a:close/>
                <a:moveTo>
                  <a:pt x="9161" y="4507"/>
                </a:moveTo>
                <a:lnTo>
                  <a:pt x="9167" y="4507"/>
                </a:lnTo>
                <a:cubicBezTo>
                  <a:pt x="9171" y="4541"/>
                  <a:pt x="9178" y="4578"/>
                  <a:pt x="9187" y="4617"/>
                </a:cubicBezTo>
                <a:lnTo>
                  <a:pt x="9256" y="4884"/>
                </a:lnTo>
                <a:lnTo>
                  <a:pt x="9068" y="4884"/>
                </a:lnTo>
                <a:cubicBezTo>
                  <a:pt x="9118" y="4694"/>
                  <a:pt x="9146" y="4586"/>
                  <a:pt x="9151" y="4561"/>
                </a:cubicBezTo>
                <a:cubicBezTo>
                  <a:pt x="9157" y="4536"/>
                  <a:pt x="9160" y="4518"/>
                  <a:pt x="9161" y="4507"/>
                </a:cubicBezTo>
                <a:close/>
                <a:moveTo>
                  <a:pt x="8990" y="4294"/>
                </a:moveTo>
                <a:lnTo>
                  <a:pt x="8652" y="5274"/>
                </a:lnTo>
                <a:lnTo>
                  <a:pt x="8971" y="5274"/>
                </a:lnTo>
                <a:lnTo>
                  <a:pt x="9018" y="5094"/>
                </a:lnTo>
                <a:lnTo>
                  <a:pt x="9310" y="5094"/>
                </a:lnTo>
                <a:lnTo>
                  <a:pt x="9353" y="5274"/>
                </a:lnTo>
                <a:lnTo>
                  <a:pt x="9674" y="5274"/>
                </a:lnTo>
                <a:lnTo>
                  <a:pt x="9356" y="4294"/>
                </a:lnTo>
                <a:lnTo>
                  <a:pt x="8990" y="4294"/>
                </a:lnTo>
                <a:close/>
                <a:moveTo>
                  <a:pt x="7181" y="4294"/>
                </a:moveTo>
                <a:lnTo>
                  <a:pt x="7415" y="5274"/>
                </a:lnTo>
                <a:lnTo>
                  <a:pt x="7747" y="5274"/>
                </a:lnTo>
                <a:lnTo>
                  <a:pt x="7894" y="4716"/>
                </a:lnTo>
                <a:cubicBezTo>
                  <a:pt x="7900" y="4693"/>
                  <a:pt x="7907" y="4653"/>
                  <a:pt x="7914" y="4597"/>
                </a:cubicBezTo>
                <a:lnTo>
                  <a:pt x="7916" y="4597"/>
                </a:lnTo>
                <a:cubicBezTo>
                  <a:pt x="7921" y="4660"/>
                  <a:pt x="7926" y="4700"/>
                  <a:pt x="7930" y="4716"/>
                </a:cubicBezTo>
                <a:lnTo>
                  <a:pt x="8066" y="5274"/>
                </a:lnTo>
                <a:lnTo>
                  <a:pt x="8380" y="5274"/>
                </a:lnTo>
                <a:lnTo>
                  <a:pt x="8627" y="4294"/>
                </a:lnTo>
                <a:lnTo>
                  <a:pt x="8336" y="4294"/>
                </a:lnTo>
                <a:lnTo>
                  <a:pt x="8250" y="4871"/>
                </a:lnTo>
                <a:lnTo>
                  <a:pt x="8242" y="4966"/>
                </a:lnTo>
                <a:lnTo>
                  <a:pt x="8240" y="4990"/>
                </a:lnTo>
                <a:lnTo>
                  <a:pt x="8237" y="4990"/>
                </a:lnTo>
                <a:lnTo>
                  <a:pt x="8230" y="4933"/>
                </a:lnTo>
                <a:lnTo>
                  <a:pt x="8221" y="4875"/>
                </a:lnTo>
                <a:lnTo>
                  <a:pt x="8095" y="4294"/>
                </a:lnTo>
                <a:lnTo>
                  <a:pt x="7773" y="4294"/>
                </a:lnTo>
                <a:lnTo>
                  <a:pt x="7622" y="4867"/>
                </a:lnTo>
                <a:cubicBezTo>
                  <a:pt x="7618" y="4881"/>
                  <a:pt x="7614" y="4902"/>
                  <a:pt x="7609" y="4931"/>
                </a:cubicBezTo>
                <a:cubicBezTo>
                  <a:pt x="7605" y="4959"/>
                  <a:pt x="7602" y="4979"/>
                  <a:pt x="7601" y="4991"/>
                </a:cubicBezTo>
                <a:lnTo>
                  <a:pt x="7597" y="4991"/>
                </a:lnTo>
                <a:lnTo>
                  <a:pt x="7593" y="4934"/>
                </a:lnTo>
                <a:cubicBezTo>
                  <a:pt x="7590" y="4899"/>
                  <a:pt x="7588" y="4878"/>
                  <a:pt x="7587" y="4871"/>
                </a:cubicBezTo>
                <a:lnTo>
                  <a:pt x="7505" y="4294"/>
                </a:lnTo>
                <a:lnTo>
                  <a:pt x="7181" y="4294"/>
                </a:lnTo>
                <a:close/>
                <a:moveTo>
                  <a:pt x="6297" y="4294"/>
                </a:moveTo>
                <a:lnTo>
                  <a:pt x="6297" y="4525"/>
                </a:lnTo>
                <a:lnTo>
                  <a:pt x="6571" y="4525"/>
                </a:lnTo>
                <a:lnTo>
                  <a:pt x="6571" y="5274"/>
                </a:lnTo>
                <a:lnTo>
                  <a:pt x="6868" y="5274"/>
                </a:lnTo>
                <a:lnTo>
                  <a:pt x="6868" y="4525"/>
                </a:lnTo>
                <a:lnTo>
                  <a:pt x="7146" y="4525"/>
                </a:lnTo>
                <a:lnTo>
                  <a:pt x="7146" y="4294"/>
                </a:lnTo>
                <a:lnTo>
                  <a:pt x="6297" y="4294"/>
                </a:lnTo>
                <a:close/>
                <a:moveTo>
                  <a:pt x="5615" y="4294"/>
                </a:moveTo>
                <a:lnTo>
                  <a:pt x="5615" y="5274"/>
                </a:lnTo>
                <a:lnTo>
                  <a:pt x="5910" y="5274"/>
                </a:lnTo>
                <a:lnTo>
                  <a:pt x="5910" y="4932"/>
                </a:lnTo>
                <a:lnTo>
                  <a:pt x="6202" y="4932"/>
                </a:lnTo>
                <a:lnTo>
                  <a:pt x="6202" y="4701"/>
                </a:lnTo>
                <a:lnTo>
                  <a:pt x="5910" y="4701"/>
                </a:lnTo>
                <a:lnTo>
                  <a:pt x="5910" y="4525"/>
                </a:lnTo>
                <a:lnTo>
                  <a:pt x="6230" y="4525"/>
                </a:lnTo>
                <a:lnTo>
                  <a:pt x="6230" y="4294"/>
                </a:lnTo>
                <a:lnTo>
                  <a:pt x="5615" y="4294"/>
                </a:lnTo>
                <a:close/>
                <a:moveTo>
                  <a:pt x="4993" y="4277"/>
                </a:moveTo>
                <a:cubicBezTo>
                  <a:pt x="4896" y="4277"/>
                  <a:pt x="4809" y="4299"/>
                  <a:pt x="4732" y="4342"/>
                </a:cubicBezTo>
                <a:cubicBezTo>
                  <a:pt x="4655" y="4386"/>
                  <a:pt x="4596" y="4447"/>
                  <a:pt x="4554" y="4527"/>
                </a:cubicBezTo>
                <a:cubicBezTo>
                  <a:pt x="4511" y="4607"/>
                  <a:pt x="4490" y="4697"/>
                  <a:pt x="4490" y="4797"/>
                </a:cubicBezTo>
                <a:cubicBezTo>
                  <a:pt x="4490" y="4892"/>
                  <a:pt x="4511" y="4977"/>
                  <a:pt x="4553" y="5053"/>
                </a:cubicBezTo>
                <a:cubicBezTo>
                  <a:pt x="4595" y="5128"/>
                  <a:pt x="4653" y="5187"/>
                  <a:pt x="4729" y="5228"/>
                </a:cubicBezTo>
                <a:cubicBezTo>
                  <a:pt x="4804" y="5270"/>
                  <a:pt x="4888" y="5291"/>
                  <a:pt x="4980" y="5291"/>
                </a:cubicBezTo>
                <a:cubicBezTo>
                  <a:pt x="5074" y="5291"/>
                  <a:pt x="5160" y="5269"/>
                  <a:pt x="5236" y="5226"/>
                </a:cubicBezTo>
                <a:cubicBezTo>
                  <a:pt x="5312" y="5183"/>
                  <a:pt x="5371" y="5123"/>
                  <a:pt x="5413" y="5045"/>
                </a:cubicBezTo>
                <a:cubicBezTo>
                  <a:pt x="5456" y="4967"/>
                  <a:pt x="5477" y="4879"/>
                  <a:pt x="5477" y="4781"/>
                </a:cubicBezTo>
                <a:cubicBezTo>
                  <a:pt x="5477" y="4683"/>
                  <a:pt x="5457" y="4595"/>
                  <a:pt x="5417" y="4518"/>
                </a:cubicBezTo>
                <a:cubicBezTo>
                  <a:pt x="5376" y="4441"/>
                  <a:pt x="5319" y="4381"/>
                  <a:pt x="5245" y="4340"/>
                </a:cubicBezTo>
                <a:cubicBezTo>
                  <a:pt x="5171" y="4298"/>
                  <a:pt x="5087" y="4277"/>
                  <a:pt x="4993" y="4277"/>
                </a:cubicBezTo>
                <a:close/>
                <a:moveTo>
                  <a:pt x="4102" y="4277"/>
                </a:moveTo>
                <a:cubicBezTo>
                  <a:pt x="3981" y="4277"/>
                  <a:pt x="3884" y="4305"/>
                  <a:pt x="3812" y="4362"/>
                </a:cubicBezTo>
                <a:cubicBezTo>
                  <a:pt x="3740" y="4419"/>
                  <a:pt x="3704" y="4495"/>
                  <a:pt x="3704" y="4590"/>
                </a:cubicBezTo>
                <a:cubicBezTo>
                  <a:pt x="3704" y="4725"/>
                  <a:pt x="3783" y="4823"/>
                  <a:pt x="3940" y="4884"/>
                </a:cubicBezTo>
                <a:cubicBezTo>
                  <a:pt x="3989" y="4902"/>
                  <a:pt x="4022" y="4916"/>
                  <a:pt x="4040" y="4927"/>
                </a:cubicBezTo>
                <a:cubicBezTo>
                  <a:pt x="4058" y="4937"/>
                  <a:pt x="4072" y="4948"/>
                  <a:pt x="4081" y="4961"/>
                </a:cubicBezTo>
                <a:cubicBezTo>
                  <a:pt x="4090" y="4973"/>
                  <a:pt x="4094" y="4987"/>
                  <a:pt x="4094" y="5003"/>
                </a:cubicBezTo>
                <a:cubicBezTo>
                  <a:pt x="4094" y="5025"/>
                  <a:pt x="4085" y="5042"/>
                  <a:pt x="4067" y="5054"/>
                </a:cubicBezTo>
                <a:cubicBezTo>
                  <a:pt x="4050" y="5065"/>
                  <a:pt x="4025" y="5071"/>
                  <a:pt x="3992" y="5071"/>
                </a:cubicBezTo>
                <a:cubicBezTo>
                  <a:pt x="3950" y="5071"/>
                  <a:pt x="3903" y="5062"/>
                  <a:pt x="3854" y="5043"/>
                </a:cubicBezTo>
                <a:cubicBezTo>
                  <a:pt x="3804" y="5025"/>
                  <a:pt x="3759" y="5000"/>
                  <a:pt x="3718" y="4970"/>
                </a:cubicBezTo>
                <a:lnTo>
                  <a:pt x="3718" y="5239"/>
                </a:lnTo>
                <a:cubicBezTo>
                  <a:pt x="3803" y="5274"/>
                  <a:pt x="3897" y="5291"/>
                  <a:pt x="3999" y="5291"/>
                </a:cubicBezTo>
                <a:cubicBezTo>
                  <a:pt x="4088" y="5291"/>
                  <a:pt x="4163" y="5279"/>
                  <a:pt x="4226" y="5255"/>
                </a:cubicBezTo>
                <a:cubicBezTo>
                  <a:pt x="4289" y="5232"/>
                  <a:pt x="4338" y="5196"/>
                  <a:pt x="4373" y="5147"/>
                </a:cubicBezTo>
                <a:cubicBezTo>
                  <a:pt x="4408" y="5099"/>
                  <a:pt x="4425" y="5042"/>
                  <a:pt x="4425" y="4977"/>
                </a:cubicBezTo>
                <a:cubicBezTo>
                  <a:pt x="4425" y="4910"/>
                  <a:pt x="4404" y="4852"/>
                  <a:pt x="4362" y="4803"/>
                </a:cubicBezTo>
                <a:cubicBezTo>
                  <a:pt x="4320" y="4754"/>
                  <a:pt x="4248" y="4709"/>
                  <a:pt x="4147" y="4668"/>
                </a:cubicBezTo>
                <a:cubicBezTo>
                  <a:pt x="4095" y="4647"/>
                  <a:pt x="4061" y="4630"/>
                  <a:pt x="4045" y="4616"/>
                </a:cubicBezTo>
                <a:cubicBezTo>
                  <a:pt x="4029" y="4603"/>
                  <a:pt x="4021" y="4586"/>
                  <a:pt x="4021" y="4565"/>
                </a:cubicBezTo>
                <a:cubicBezTo>
                  <a:pt x="4021" y="4544"/>
                  <a:pt x="4031" y="4527"/>
                  <a:pt x="4051" y="4514"/>
                </a:cubicBezTo>
                <a:cubicBezTo>
                  <a:pt x="4071" y="4502"/>
                  <a:pt x="4097" y="4496"/>
                  <a:pt x="4130" y="4496"/>
                </a:cubicBezTo>
                <a:cubicBezTo>
                  <a:pt x="4210" y="4496"/>
                  <a:pt x="4291" y="4519"/>
                  <a:pt x="4373" y="4564"/>
                </a:cubicBezTo>
                <a:lnTo>
                  <a:pt x="4373" y="4315"/>
                </a:lnTo>
                <a:cubicBezTo>
                  <a:pt x="4331" y="4303"/>
                  <a:pt x="4298" y="4295"/>
                  <a:pt x="4274" y="4291"/>
                </a:cubicBezTo>
                <a:cubicBezTo>
                  <a:pt x="4251" y="4287"/>
                  <a:pt x="4225" y="4284"/>
                  <a:pt x="4196" y="4281"/>
                </a:cubicBezTo>
                <a:cubicBezTo>
                  <a:pt x="4167" y="4278"/>
                  <a:pt x="4136" y="4277"/>
                  <a:pt x="4102" y="4277"/>
                </a:cubicBezTo>
                <a:close/>
                <a:moveTo>
                  <a:pt x="0" y="0"/>
                </a:moveTo>
                <a:lnTo>
                  <a:pt x="10492" y="0"/>
                </a:lnTo>
                <a:lnTo>
                  <a:pt x="10492" y="4367"/>
                </a:lnTo>
                <a:lnTo>
                  <a:pt x="10485" y="4361"/>
                </a:lnTo>
                <a:cubicBezTo>
                  <a:pt x="10419" y="4316"/>
                  <a:pt x="10318" y="4294"/>
                  <a:pt x="10181" y="4294"/>
                </a:cubicBezTo>
                <a:lnTo>
                  <a:pt x="9788" y="4294"/>
                </a:lnTo>
                <a:lnTo>
                  <a:pt x="9788" y="5274"/>
                </a:lnTo>
                <a:lnTo>
                  <a:pt x="10083" y="5274"/>
                </a:lnTo>
                <a:lnTo>
                  <a:pt x="10083" y="4929"/>
                </a:lnTo>
                <a:lnTo>
                  <a:pt x="10095" y="4929"/>
                </a:lnTo>
                <a:cubicBezTo>
                  <a:pt x="10121" y="4929"/>
                  <a:pt x="10146" y="4941"/>
                  <a:pt x="10168" y="4965"/>
                </a:cubicBezTo>
                <a:cubicBezTo>
                  <a:pt x="10191" y="4988"/>
                  <a:pt x="10209" y="5021"/>
                  <a:pt x="10223" y="5062"/>
                </a:cubicBezTo>
                <a:lnTo>
                  <a:pt x="10297" y="5274"/>
                </a:lnTo>
                <a:lnTo>
                  <a:pt x="10492" y="5274"/>
                </a:lnTo>
                <a:lnTo>
                  <a:pt x="10492" y="10779"/>
                </a:lnTo>
                <a:lnTo>
                  <a:pt x="0" y="10779"/>
                </a:lnTo>
                <a:lnTo>
                  <a:pt x="0" y="0"/>
                </a:lnTo>
                <a:close/>
                <a:moveTo>
                  <a:pt x="10083" y="4498"/>
                </a:moveTo>
                <a:lnTo>
                  <a:pt x="10144" y="4498"/>
                </a:lnTo>
                <a:cubicBezTo>
                  <a:pt x="10187" y="4498"/>
                  <a:pt x="10219" y="4508"/>
                  <a:pt x="10239" y="4527"/>
                </a:cubicBezTo>
                <a:cubicBezTo>
                  <a:pt x="10259" y="4546"/>
                  <a:pt x="10269" y="4572"/>
                  <a:pt x="10269" y="4605"/>
                </a:cubicBezTo>
                <a:cubicBezTo>
                  <a:pt x="10269" y="4638"/>
                  <a:pt x="10257" y="4666"/>
                  <a:pt x="10233" y="4689"/>
                </a:cubicBezTo>
                <a:cubicBezTo>
                  <a:pt x="10208" y="4711"/>
                  <a:pt x="10176" y="4722"/>
                  <a:pt x="10137" y="4722"/>
                </a:cubicBezTo>
                <a:lnTo>
                  <a:pt x="10083" y="4722"/>
                </a:lnTo>
                <a:lnTo>
                  <a:pt x="10083" y="4498"/>
                </a:lnTo>
                <a:close/>
              </a:path>
            </a:pathLst>
          </a:custGeom>
          <a:solidFill>
            <a:schemeClr val="bg1">
              <a:alpha val="44000"/>
            </a:schemeClr>
          </a:solidFill>
          <a:effectLst/>
        </p:spPr>
        <p:txBody>
          <a:bodyPr wrap="square" rtlCol="0">
            <a:noAutofit/>
          </a:bodyPr>
          <a:lstStyle/>
          <a:p>
            <a:endParaRPr lang="en-US" sz="7000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grpSp>
        <p:nvGrpSpPr>
          <p:cNvPr id="7" name="群組 6"/>
          <p:cNvGrpSpPr/>
          <p:nvPr/>
        </p:nvGrpSpPr>
        <p:grpSpPr>
          <a:xfrm>
            <a:off x="269864" y="3864812"/>
            <a:ext cx="3293433" cy="637493"/>
            <a:chOff x="637703" y="2936783"/>
            <a:chExt cx="3293433" cy="637493"/>
          </a:xfrm>
        </p:grpSpPr>
        <p:pic>
          <p:nvPicPr>
            <p:cNvPr id="8" name="Picture 6"/>
            <p:cNvPicPr/>
            <p:nvPr/>
          </p:nvPicPr>
          <p:blipFill>
            <a:blip r:embed="rId2">
              <a:lum bright="-20001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/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/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charset="-122"/>
                  <a:ea typeface="DengXian" panose="02010600030101010101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charset="-122"/>
                  <a:ea typeface="DengXian" panose="02010600030101010101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/>
              <p:cNvPicPr/>
              <p:nvPr/>
            </p:nvPicPr>
            <p:blipFill rotWithShape="1">
              <a:blip r:embed="rId3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charset="-122"/>
                    <a:ea typeface="DengXian" panose="02010600030101010101" charset="-122"/>
                  </a:rPr>
                  <a:t>BG6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charset="-122"/>
                  <a:ea typeface="DengXian" panose="02010600030101010101" charset="-122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charset="-122"/>
                    <a:ea typeface="DengXian" panose="02010600030101010101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charset="-122"/>
                  <a:ea typeface="DengXian" panose="02010600030101010101" charset="-122"/>
                </a:endParaRPr>
              </a:p>
            </p:txBody>
          </p:sp>
        </p:grpSp>
      </p:grpSp>
      <p:sp>
        <p:nvSpPr>
          <p:cNvPr id="6" name="文字方塊 5"/>
          <p:cNvSpPr txBox="1"/>
          <p:nvPr/>
        </p:nvSpPr>
        <p:spPr>
          <a:xfrm>
            <a:off x="0" y="4744085"/>
            <a:ext cx="6650990" cy="21069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SOFTWARE TEAM REPORT</a:t>
            </a:r>
            <a:endParaRPr lang="en-US" altLang="zh-TW" sz="3600" b="1" dirty="0">
              <a:solidFill>
                <a:schemeClr val="bg1"/>
              </a:solidFill>
              <a:effectLst>
                <a:outerShdw blurRad="50800" dist="38100" dir="10800000" algn="r" rotWithShape="0">
                  <a:schemeClr val="bg1">
                    <a:lumMod val="85000"/>
                    <a:alpha val="70000"/>
                  </a:schemeClr>
                </a:outerShdw>
              </a:effectLst>
              <a:latin typeface="Microsoft JhengHei" panose="020B0604030504040204" pitchFamily="34" charset="-120"/>
              <a:ea typeface="Microsoft JhengHei" panose="020B0604030504040204" pitchFamily="34" charset="-120"/>
              <a:cs typeface="Microsoft JhengHei" panose="020B0604030504040204" pitchFamily="34" charset="-120"/>
              <a:sym typeface="+mn-ea"/>
            </a:endParaRPr>
          </a:p>
          <a:p>
            <a:pPr>
              <a:spcBef>
                <a:spcPts val="600"/>
              </a:spcBef>
            </a:pPr>
            <a:r>
              <a:rPr lang="en-US" altLang="zh-TW" sz="2000" b="1" dirty="0" err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Dept</a:t>
            </a:r>
            <a:r>
              <a:rPr lang="en-US" altLang="zh-TW" sz="2000" b="1" dirty="0" smtClean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:</a:t>
            </a:r>
            <a:r>
              <a:rPr lang="zh-TW" altLang="en-US" sz="2000" b="1" dirty="0" smtClean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TW" sz="2000" b="1" dirty="0" smtClean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TW" sz="20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PVN)</a:t>
            </a:r>
            <a:r>
              <a:rPr sz="20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Business Group 6-PVN1 Factory-FME Dept.-Automation Sec.</a:t>
            </a:r>
            <a:endParaRPr sz="2000" b="1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sz="2000" b="1" dirty="0" err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Team: Software</a:t>
            </a:r>
            <a:r>
              <a:rPr lang="en-US" altLang="zh-TW" sz="20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	</a:t>
            </a:r>
            <a:endParaRPr lang="en-US" altLang="zh-TW" sz="2000" b="1" dirty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2000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Date: </a:t>
            </a:r>
            <a:r>
              <a:rPr lang="en-US" altLang="zh-TW" sz="2000" b="1" dirty="0" smtClean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  <a:sym typeface="+mn-ea"/>
              </a:rPr>
              <a:t>2025/02/20</a:t>
            </a:r>
            <a:endParaRPr lang="vi-VN" altLang="en-US" sz="2000" b="1" dirty="0" smtClean="0"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Microsoft JhengHei" panose="020B0604030504040204" pitchFamily="34" charset="-12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15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16" name="群組 15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17" name="文字方塊 16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9" b="361"/>
          <a:stretch>
            <a:fillRect/>
          </a:stretch>
        </p:blipFill>
        <p:spPr>
          <a:xfrm>
            <a:off x="6286500" y="0"/>
            <a:ext cx="5905500" cy="6877274"/>
          </a:xfrm>
          <a:prstGeom prst="rect">
            <a:avLst/>
          </a:prstGeom>
        </p:spPr>
      </p:pic>
      <p:sp>
        <p:nvSpPr>
          <p:cNvPr id="46" name="Text Box 45"/>
          <p:cNvSpPr txBox="1"/>
          <p:nvPr/>
        </p:nvSpPr>
        <p:spPr>
          <a:xfrm>
            <a:off x="338455" y="254635"/>
            <a:ext cx="7337425" cy="1014730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43490"/>
                </a:solidFill>
                <a:latin typeface="Segoe UI Black" panose="020B0A02040204020203" charset="0"/>
                <a:cs typeface="Segoe UI Black" panose="020B0A02040204020203" charset="0"/>
              </a:rPr>
              <a:t>SOFTWARE TEAM</a:t>
            </a:r>
            <a:endParaRPr lang="en-US" sz="6000" dirty="0">
              <a:solidFill>
                <a:srgbClr val="043490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80720" y="2451100"/>
            <a:ext cx="5368290" cy="963930"/>
          </a:xfrm>
          <a:prstGeom prst="roundRect">
            <a:avLst/>
          </a:prstGeom>
          <a:solidFill>
            <a:srgbClr val="011852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>
                <a:latin typeface="Arial" panose="020B0604020202020204" pitchFamily="34" charset="0"/>
                <a:cs typeface="Arial" panose="020B0604020202020204" pitchFamily="34" charset="0"/>
              </a:rPr>
              <a:t>TASK WORK</a:t>
            </a:r>
            <a:endParaRPr lang="en-US" sz="3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80720" y="3978275"/>
            <a:ext cx="5368290" cy="963930"/>
          </a:xfrm>
          <a:prstGeom prst="roundRect">
            <a:avLst/>
          </a:prstGeom>
          <a:solidFill>
            <a:srgbClr val="021F63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>
                <a:latin typeface="Arial" panose="020B0604020202020204" pitchFamily="34" charset="0"/>
                <a:cs typeface="Arial" panose="020B0604020202020204" pitchFamily="34" charset="0"/>
              </a:rPr>
              <a:t>PROJECT STATUS</a:t>
            </a:r>
            <a:endParaRPr lang="en-US" sz="3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群組 43"/>
          <p:cNvGrpSpPr/>
          <p:nvPr/>
        </p:nvGrpSpPr>
        <p:grpSpPr>
          <a:xfrm>
            <a:off x="40640" y="6031972"/>
            <a:ext cx="965804" cy="826028"/>
            <a:chOff x="1633611" y="4134687"/>
            <a:chExt cx="382449" cy="327099"/>
          </a:xfrm>
        </p:grpSpPr>
        <p:sp>
          <p:nvSpPr>
            <p:cNvPr id="45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47" name="群組 46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49" name="文字方塊 48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文字方塊 49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 rot="5400000">
            <a:off x="-1242000" y="1239680"/>
            <a:ext cx="6876000" cy="4392000"/>
          </a:xfrm>
          <a:prstGeom prst="rect">
            <a:avLst/>
          </a:prstGeom>
          <a:blipFill rotWithShape="1">
            <a:blip r:embed="rId1" cstate="print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446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92295" y="-6129"/>
            <a:ext cx="7835265" cy="6870480"/>
          </a:xfrm>
          <a:prstGeom prst="rect">
            <a:avLst/>
          </a:prstGeom>
          <a:solidFill>
            <a:srgbClr val="165598"/>
          </a:solidFill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Box 22"/>
          <p:cNvSpPr txBox="1"/>
          <p:nvPr/>
        </p:nvSpPr>
        <p:spPr>
          <a:xfrm>
            <a:off x="5490210" y="1604010"/>
            <a:ext cx="5946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NGOC LONG - V24002407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alt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IDL</a:t>
            </a:r>
            <a:endParaRPr lang="vi-VN" alt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-224790" y="1343660"/>
            <a:ext cx="43313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SOFTWARE</a:t>
            </a:r>
            <a:endParaRPr lang="en-US" sz="4800" dirty="0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TEAM </a:t>
            </a:r>
            <a:endParaRPr lang="en-US" sz="4800" dirty="0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4800" dirty="0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MEMBERS</a:t>
            </a:r>
            <a:endParaRPr lang="en-US" sz="4800" dirty="0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5506085" y="3676015"/>
            <a:ext cx="6810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NGUYEN HOANG GIANG - V24002752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alt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IDL</a:t>
            </a:r>
            <a:endParaRPr lang="vi-VN" alt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490210" y="-2540"/>
            <a:ext cx="6334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 THI PHUONG - V23005558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alt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IDL</a:t>
            </a:r>
            <a:endParaRPr lang="vi-VN" alt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171440" y="405130"/>
            <a:ext cx="70142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esponsible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for m</a:t>
            </a:r>
            <a:r>
              <a:rPr sz="2400" dirty="0" err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onitor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status of all AOI stations</a:t>
            </a:r>
            <a:r>
              <a:rPr lang="en-US" altLang="vi-V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training AOI for new members</a:t>
            </a:r>
            <a:endParaRPr lang="en-US" altLang="vi-VN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Knowledges </a:t>
            </a:r>
            <a:r>
              <a:rPr lang="en-US" altLang="vi-V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about</a:t>
            </a: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Basic Python language</a:t>
            </a:r>
            <a:endParaRPr lang="vi-VN" alt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171440" y="2024380"/>
            <a:ext cx="70142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esponsible 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for debug</a:t>
            </a:r>
            <a:r>
              <a:rPr lang="en-US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ging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training model for the AOI station </a:t>
            </a:r>
            <a:endParaRPr lang="vi-VN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Knowledges </a:t>
            </a:r>
            <a:r>
              <a:rPr lang="en-US" altLang="vi-V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about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JavaScript, C++, C</a:t>
            </a:r>
            <a:r>
              <a:rPr lang="en-US" altLang="vi-V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Python, MySQL, MongoDB</a:t>
            </a:r>
            <a:endParaRPr lang="en-US" altLang="vi-VN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171440" y="3984625"/>
            <a:ext cx="70142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esponsible 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for debug</a:t>
            </a:r>
            <a:r>
              <a:rPr lang="en-US" altLang="vi-V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ging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training model for the AOI station </a:t>
            </a:r>
            <a:endParaRPr lang="vi-VN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Knowledges </a:t>
            </a:r>
            <a:r>
              <a:rPr lang="en-US" altLang="vi-V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about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Python language</a:t>
            </a:r>
            <a:endParaRPr lang="vi-VN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16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17" name="群組 16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18" name="文字方塊 17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/>
          <p:cNvGrpSpPr/>
          <p:nvPr/>
        </p:nvGrpSpPr>
        <p:grpSpPr>
          <a:xfrm>
            <a:off x="3700780" y="132080"/>
            <a:ext cx="1371600" cy="6630670"/>
            <a:chOff x="5788" y="368"/>
            <a:chExt cx="2160" cy="10442"/>
          </a:xfrm>
        </p:grpSpPr>
        <p:sp>
          <p:nvSpPr>
            <p:cNvPr id="31" name="Oval 30"/>
            <p:cNvSpPr/>
            <p:nvPr/>
          </p:nvSpPr>
          <p:spPr>
            <a:xfrm>
              <a:off x="5788" y="3128"/>
              <a:ext cx="2160" cy="2158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alt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788" y="5889"/>
              <a:ext cx="2160" cy="2158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alt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5788" y="368"/>
              <a:ext cx="2160" cy="2158"/>
            </a:xfrm>
            <a:prstGeom prst="ellipse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alt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88" y="8652"/>
              <a:ext cx="2160" cy="2158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vi-VN" altLang="en-US"/>
            </a:p>
          </p:txBody>
        </p:sp>
      </p:grpSp>
      <p:sp>
        <p:nvSpPr>
          <p:cNvPr id="9" name="Text Box 8"/>
          <p:cNvSpPr txBox="1"/>
          <p:nvPr/>
        </p:nvSpPr>
        <p:spPr>
          <a:xfrm>
            <a:off x="5506085" y="5299075"/>
            <a:ext cx="6548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NGUYEN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TRUNG NH</a:t>
            </a:r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V24002752 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vi-VN" altLang="en-US" sz="24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IDL</a:t>
            </a:r>
            <a:endParaRPr lang="vi-VN" alt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213350" y="5759450"/>
            <a:ext cx="66109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esponsible 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for debug</a:t>
            </a:r>
            <a:r>
              <a:rPr lang="en-US" altLang="vi-V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ging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training model for the AOI station </a:t>
            </a:r>
            <a:endParaRPr lang="vi-VN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Knowledges </a:t>
            </a:r>
            <a:r>
              <a:rPr lang="en-US" altLang="vi-VN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about</a:t>
            </a:r>
            <a:r>
              <a:rPr lang="vi-VN" altLang="en-US" sz="2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Python language</a:t>
            </a:r>
            <a:endParaRPr lang="vi-VN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/>
          <p:cNvSpPr/>
          <p:nvPr/>
        </p:nvSpPr>
        <p:spPr>
          <a:xfrm rot="5400000">
            <a:off x="-1242000" y="1239680"/>
            <a:ext cx="6876000" cy="4392000"/>
          </a:xfrm>
          <a:prstGeom prst="rect">
            <a:avLst/>
          </a:prstGeom>
          <a:blipFill rotWithShape="1">
            <a:blip r:embed="rId1" cstate="print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446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92295" y="-6129"/>
            <a:ext cx="7835265" cy="6870480"/>
          </a:xfrm>
          <a:prstGeom prst="rect">
            <a:avLst/>
          </a:prstGeom>
          <a:solidFill>
            <a:srgbClr val="165598"/>
          </a:solidFill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-135890" y="1343660"/>
            <a:ext cx="433133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dirty="0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SOFTWARE</a:t>
            </a:r>
            <a:endParaRPr lang="en-US" sz="5000" dirty="0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5000" dirty="0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TEAM </a:t>
            </a:r>
            <a:endParaRPr lang="en-US" sz="5000" dirty="0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5000" dirty="0">
                <a:solidFill>
                  <a:schemeClr val="tx1"/>
                </a:solidFill>
                <a:latin typeface="Segoe UI Black" panose="020B0A02040204020203" charset="0"/>
                <a:cs typeface="Segoe UI Black" panose="020B0A02040204020203" charset="0"/>
              </a:rPr>
              <a:t>MEMBERS</a:t>
            </a:r>
            <a:endParaRPr lang="en-US" sz="5000" dirty="0">
              <a:solidFill>
                <a:schemeClr val="tx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490210" y="237490"/>
            <a:ext cx="63347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vi-VN" sz="2400" b="1" dirty="0">
                <a:solidFill>
                  <a:schemeClr val="bg1"/>
                </a:solidFill>
                <a:sym typeface="+mn-ea"/>
              </a:rPr>
              <a:t>NGUYEN TUNG LONG - V24001835 </a:t>
            </a:r>
            <a:r>
              <a:rPr lang="vi-VN" altLang="en-US" sz="2400" b="1" dirty="0">
                <a:solidFill>
                  <a:schemeClr val="bg1"/>
                </a:solidFill>
                <a:sym typeface="+mn-ea"/>
              </a:rPr>
              <a:t>- </a:t>
            </a:r>
            <a:r>
              <a:rPr lang="vi-VN" altLang="en-US" sz="2400" b="1" dirty="0">
                <a:solidFill>
                  <a:srgbClr val="FFFF00"/>
                </a:solidFill>
                <a:sym typeface="+mn-ea"/>
              </a:rPr>
              <a:t>DL</a:t>
            </a:r>
            <a:endParaRPr lang="vi-VN" alt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171440" y="645160"/>
            <a:ext cx="70142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esponsible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for m</a:t>
            </a:r>
            <a:r>
              <a:rPr sz="2400" dirty="0" err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onitor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ing</a:t>
            </a:r>
            <a:r>
              <a:rPr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status of all AOI stations</a:t>
            </a:r>
            <a:r>
              <a:rPr lang="en-US" altLang="vi-V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training AOI for new members</a:t>
            </a:r>
            <a:endParaRPr lang="en-US" altLang="vi-VN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Knowledges </a:t>
            </a:r>
            <a:r>
              <a:rPr lang="en-US" altLang="vi-VN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about</a:t>
            </a: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Basic Python language</a:t>
            </a:r>
            <a:endParaRPr lang="vi-VN" alt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16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17" name="群組 16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18" name="文字方塊 17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9" name="Text Box 8"/>
          <p:cNvSpPr txBox="1"/>
          <p:nvPr/>
        </p:nvSpPr>
        <p:spPr>
          <a:xfrm>
            <a:off x="5506085" y="5091430"/>
            <a:ext cx="6548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400" b="1" dirty="0">
                <a:solidFill>
                  <a:schemeClr val="bg1"/>
                </a:solidFill>
                <a:sym typeface="+mn-ea"/>
              </a:rPr>
              <a:t>BUI THI UYEN </a:t>
            </a:r>
            <a:r>
              <a:rPr lang="en-US" altLang="vi-VN" sz="2400" b="1" dirty="0">
                <a:solidFill>
                  <a:schemeClr val="bg1"/>
                </a:solidFill>
                <a:sym typeface="+mn-ea"/>
              </a:rPr>
              <a:t>- </a:t>
            </a:r>
            <a:r>
              <a:rPr lang="vi-VN" altLang="en-US" sz="2400" b="1" dirty="0">
                <a:solidFill>
                  <a:schemeClr val="bg1"/>
                </a:solidFill>
                <a:sym typeface="+mn-ea"/>
              </a:rPr>
              <a:t>V24004286 - </a:t>
            </a:r>
            <a:r>
              <a:rPr lang="vi-VN" altLang="en-US" sz="2400" b="1" dirty="0">
                <a:solidFill>
                  <a:srgbClr val="FFFF00"/>
                </a:solidFill>
                <a:sym typeface="+mn-ea"/>
              </a:rPr>
              <a:t>DL</a:t>
            </a:r>
            <a:r>
              <a:rPr lang="vi-VN" altLang="en-US" sz="2400" b="1" dirty="0">
                <a:solidFill>
                  <a:schemeClr val="bg1"/>
                </a:solidFill>
                <a:sym typeface="+mn-ea"/>
              </a:rPr>
              <a:t> </a:t>
            </a:r>
            <a:endParaRPr lang="vi-VN" altLang="en-US" sz="24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213350" y="5551805"/>
            <a:ext cx="7014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earning training model in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Cambrain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system</a:t>
            </a:r>
            <a:endParaRPr 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Follow up AOI station status</a:t>
            </a:r>
            <a:endParaRPr lang="vi-VN" altLang="en-US" sz="2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213350" y="3266440"/>
            <a:ext cx="67811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Learning</a:t>
            </a: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debug</a:t>
            </a:r>
            <a:r>
              <a:rPr lang="en-US" altLang="vi-VN" sz="2400" dirty="0" err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ging</a:t>
            </a:r>
            <a:r>
              <a:rPr lang="vi-VN" altLang="en-US" sz="24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, training model for the AOI stations nightshift</a:t>
            </a:r>
            <a:endParaRPr lang="vi-VN" altLang="en-US" sz="24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Box 22"/>
          <p:cNvSpPr txBox="1"/>
          <p:nvPr/>
        </p:nvSpPr>
        <p:spPr>
          <a:xfrm>
            <a:off x="5509895" y="2806065"/>
            <a:ext cx="59461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vi-VN" sz="2400" b="1" dirty="0">
                <a:solidFill>
                  <a:schemeClr val="bg1"/>
                </a:solidFill>
              </a:rPr>
              <a:t>HOANG DUC TRINH - V24001982 </a:t>
            </a:r>
            <a:r>
              <a:rPr lang="vi-VN" altLang="en-US" sz="2400" b="1" dirty="0">
                <a:solidFill>
                  <a:schemeClr val="bg1"/>
                </a:solidFill>
              </a:rPr>
              <a:t>- </a:t>
            </a:r>
            <a:r>
              <a:rPr lang="vi-VN" altLang="en-US" sz="2400" b="1" dirty="0">
                <a:solidFill>
                  <a:srgbClr val="FFFF00"/>
                </a:solidFill>
              </a:rPr>
              <a:t>DL</a:t>
            </a:r>
            <a:endParaRPr lang="vi-VN" altLang="en-US" sz="2400" b="1" dirty="0">
              <a:solidFill>
                <a:srgbClr val="FFFF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723005" y="405130"/>
            <a:ext cx="1381125" cy="6043930"/>
            <a:chOff x="5773" y="848"/>
            <a:chExt cx="2175" cy="9518"/>
          </a:xfrm>
        </p:grpSpPr>
        <p:sp>
          <p:nvSpPr>
            <p:cNvPr id="31" name="Oval 30"/>
            <p:cNvSpPr/>
            <p:nvPr/>
          </p:nvSpPr>
          <p:spPr>
            <a:xfrm>
              <a:off x="5788" y="4510"/>
              <a:ext cx="2160" cy="2158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alt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773" y="848"/>
              <a:ext cx="2160" cy="2158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vi-VN" alt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73" y="8208"/>
              <a:ext cx="2160" cy="2158"/>
            </a:xfrm>
            <a:prstGeom prst="ellipse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vi-VN" altLang="en-US"/>
            </a:p>
          </p:txBody>
        </p:sp>
      </p:grpSp>
    </p:spTree>
  </p:cSld>
  <p:clrMapOvr>
    <a:masterClrMapping/>
  </p:clrMapOvr>
  <p:transition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/>
          <p:nvPr/>
        </p:nvSpPr>
        <p:spPr>
          <a:xfrm>
            <a:off x="4191002" y="0"/>
            <a:ext cx="8016874" cy="6858000"/>
          </a:xfrm>
          <a:prstGeom prst="rect">
            <a:avLst/>
          </a:prstGeom>
          <a:solidFill>
            <a:srgbClr val="165598"/>
          </a:solidFill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 rot="5400000">
            <a:off x="-1305000" y="1305000"/>
            <a:ext cx="6858000" cy="4248000"/>
          </a:xfrm>
          <a:prstGeom prst="rect">
            <a:avLst/>
          </a:prstGeom>
          <a:blipFill rotWithShape="1">
            <a:blip r:embed="rId1" cstate="print">
              <a:alphaModFix amt="1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1343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04470" y="218440"/>
            <a:ext cx="417068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latin typeface="Segoe UI Black" panose="020B0A02040204020203" charset="0"/>
                <a:cs typeface="Segoe UI Black" panose="020B0A02040204020203" charset="0"/>
              </a:rPr>
              <a:t>TASK </a:t>
            </a:r>
            <a:endParaRPr lang="en-US" sz="6000" dirty="0"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6000" dirty="0">
                <a:latin typeface="Segoe UI Black" panose="020B0A02040204020203" charset="0"/>
                <a:cs typeface="Segoe UI Black" panose="020B0A02040204020203" charset="0"/>
              </a:rPr>
              <a:t>WORK EACH </a:t>
            </a:r>
            <a:endParaRPr lang="en-US" sz="6000" dirty="0"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6000" dirty="0">
                <a:latin typeface="Segoe UI Black" panose="020B0A02040204020203" charset="0"/>
                <a:cs typeface="Segoe UI Black" panose="020B0A02040204020203" charset="0"/>
              </a:rPr>
              <a:t>MEMBER</a:t>
            </a:r>
            <a:endParaRPr lang="en-US" sz="6000" dirty="0">
              <a:latin typeface="Segoe UI Black" panose="020B0A02040204020203" charset="0"/>
              <a:cs typeface="Segoe UI Black" panose="020B0A02040204020203" charset="0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0640" y="6031972"/>
            <a:ext cx="965804" cy="826028"/>
            <a:chOff x="1633611" y="4134687"/>
            <a:chExt cx="382449" cy="327099"/>
          </a:xfrm>
        </p:grpSpPr>
        <p:sp>
          <p:nvSpPr>
            <p:cNvPr id="13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15" name="文字方塊 14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930" y="56515"/>
            <a:ext cx="7867015" cy="6744970"/>
          </a:xfrm>
          <a:prstGeom prst="rect">
            <a:avLst/>
          </a:prstGeom>
        </p:spPr>
      </p:pic>
    </p:spTree>
  </p:cSld>
  <p:clrMapOvr>
    <a:masterClrMapping/>
  </p:clrMapOvr>
  <p:transition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/>
          <p:cNvSpPr/>
          <p:nvPr/>
        </p:nvSpPr>
        <p:spPr>
          <a:xfrm>
            <a:off x="4191002" y="0"/>
            <a:ext cx="8016874" cy="6858000"/>
          </a:xfrm>
          <a:prstGeom prst="rect">
            <a:avLst/>
          </a:prstGeom>
          <a:solidFill>
            <a:srgbClr val="165598"/>
          </a:solidFill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 rot="5400000">
            <a:off x="-1305000" y="1305000"/>
            <a:ext cx="6858000" cy="4248000"/>
          </a:xfrm>
          <a:prstGeom prst="rect">
            <a:avLst/>
          </a:prstGeom>
          <a:blipFill rotWithShape="1">
            <a:blip r:embed="rId1" cstate="print">
              <a:alphaModFix amt="1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1343"/>
            </a:stretch>
          </a:blip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04470" y="218440"/>
            <a:ext cx="417068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latin typeface="Segoe UI Black" panose="020B0A02040204020203" charset="0"/>
                <a:cs typeface="Segoe UI Black" panose="020B0A02040204020203" charset="0"/>
              </a:rPr>
              <a:t>TASK </a:t>
            </a:r>
            <a:endParaRPr lang="en-US" sz="6000" dirty="0"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6000" dirty="0">
                <a:latin typeface="Segoe UI Black" panose="020B0A02040204020203" charset="0"/>
                <a:cs typeface="Segoe UI Black" panose="020B0A02040204020203" charset="0"/>
              </a:rPr>
              <a:t>WORK EACH </a:t>
            </a:r>
            <a:endParaRPr lang="en-US" sz="6000" dirty="0">
              <a:latin typeface="Segoe UI Black" panose="020B0A02040204020203" charset="0"/>
              <a:cs typeface="Segoe UI Black" panose="020B0A02040204020203" charset="0"/>
            </a:endParaRPr>
          </a:p>
          <a:p>
            <a:pPr algn="ctr">
              <a:lnSpc>
                <a:spcPct val="150000"/>
              </a:lnSpc>
            </a:pPr>
            <a:r>
              <a:rPr lang="en-US" sz="6000" dirty="0">
                <a:latin typeface="Segoe UI Black" panose="020B0A02040204020203" charset="0"/>
                <a:cs typeface="Segoe UI Black" panose="020B0A02040204020203" charset="0"/>
              </a:rPr>
              <a:t>MEMBER</a:t>
            </a:r>
            <a:endParaRPr lang="en-US" sz="6000" dirty="0">
              <a:latin typeface="Segoe UI Black" panose="020B0A02040204020203" charset="0"/>
              <a:cs typeface="Segoe UI Black" panose="020B0A02040204020203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2516505" y="5576570"/>
            <a:ext cx="1562100" cy="1168400"/>
            <a:chOff x="2546350" y="5600700"/>
            <a:chExt cx="1562100" cy="1168400"/>
          </a:xfrm>
        </p:grpSpPr>
        <p:graphicFrame>
          <p:nvGraphicFramePr>
            <p:cNvPr id="3" name="Table 2"/>
            <p:cNvGraphicFramePr/>
            <p:nvPr/>
          </p:nvGraphicFramePr>
          <p:xfrm>
            <a:off x="2546350" y="5600700"/>
            <a:ext cx="1562100" cy="1168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562100"/>
                </a:tblGrid>
                <a:tr h="292100">
                  <a:tc>
                    <a:txBody>
                      <a:bodyPr/>
                      <a:lstStyle/>
                      <a:p>
                        <a:pPr indent="0" algn="ctr">
                          <a:buNone/>
                        </a:pPr>
                        <a:r>
                          <a:rPr lang="en-US" sz="1400" b="0" dirty="0">
                            <a:solidFill>
                              <a:srgbClr val="00B050"/>
                            </a:solidFill>
                            <a:latin typeface="Times New Roman" panose="02020603050405020304" charset="-122"/>
                          </a:rPr>
                          <a:t>V</a:t>
                        </a:r>
                        <a:r>
                          <a:rPr lang="en-US" sz="1400" b="0" dirty="0">
                            <a:solidFill>
                              <a:srgbClr val="000000"/>
                            </a:solidFill>
                            <a:latin typeface="Times New Roman" panose="02020603050405020304" charset="-122"/>
                          </a:rPr>
                          <a:t>=</a:t>
                        </a:r>
                        <a:r>
                          <a:rPr lang="en-US" sz="1400" b="0" dirty="0" err="1">
                            <a:solidFill>
                              <a:srgbClr val="000000"/>
                            </a:solidFill>
                            <a:latin typeface="Microsoft JhengHei" panose="020B0604030504040204" charset="-122"/>
                          </a:rPr>
                          <a:t>已學習</a:t>
                        </a:r>
                        <a:endParaRPr lang="en-US" sz="1400" b="0" dirty="0">
                          <a:solidFill>
                            <a:srgbClr val="00B050"/>
                          </a:solidFill>
                          <a:latin typeface="Times New Roman" panose="020206030504050203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R>
                      <a:lnT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T>
                      <a:lnB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292100">
                  <a:tc>
                    <a:txBody>
                      <a:bodyPr/>
                      <a:lstStyle/>
                      <a:p>
                        <a:pPr indent="0" algn="ctr">
                          <a:buNone/>
                        </a:pPr>
                        <a:r>
                          <a:rPr lang="en-US" sz="1400" b="0">
                            <a:solidFill>
                              <a:srgbClr val="000000"/>
                            </a:solidFill>
                            <a:latin typeface="Times New Roman" panose="02020603050405020304" charset="-122"/>
                          </a:rPr>
                          <a:t>▲=</a:t>
                        </a:r>
                        <a:r>
                          <a:rPr lang="en-US" sz="1400" b="0">
                            <a:solidFill>
                              <a:srgbClr val="000000"/>
                            </a:solidFill>
                            <a:latin typeface="Microsoft JhengHei" panose="020B0604030504040204" charset="-122"/>
                          </a:rPr>
                          <a:t>學習中</a:t>
                        </a:r>
                        <a:endParaRPr lang="en-US" sz="1400" b="0">
                          <a:solidFill>
                            <a:srgbClr val="000000"/>
                          </a:solidFill>
                          <a:latin typeface="Times New Roman" panose="020206030504050203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R>
                      <a:lnT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T>
                      <a:lnB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292100">
                  <a:tc>
                    <a:txBody>
                      <a:bodyPr/>
                      <a:lstStyle/>
                      <a:p>
                        <a:pPr indent="0" algn="ctr">
                          <a:buNone/>
                        </a:pPr>
                        <a:r>
                          <a:rPr lang="en-US" sz="1400" b="0">
                            <a:solidFill>
                              <a:srgbClr val="FF0000"/>
                            </a:solidFill>
                            <a:latin typeface="Times New Roman" panose="02020603050405020304" charset="-122"/>
                          </a:rPr>
                          <a:t>X</a:t>
                        </a:r>
                        <a:r>
                          <a:rPr lang="en-US" sz="1400" b="0">
                            <a:solidFill>
                              <a:srgbClr val="000000"/>
                            </a:solidFill>
                            <a:latin typeface="Times New Roman" panose="02020603050405020304" charset="-122"/>
                          </a:rPr>
                          <a:t>=</a:t>
                        </a:r>
                        <a:r>
                          <a:rPr lang="en-US" sz="1400" b="0">
                            <a:solidFill>
                              <a:srgbClr val="000000"/>
                            </a:solidFill>
                            <a:latin typeface="Microsoft JhengHei" panose="020B0604030504040204" charset="-122"/>
                          </a:rPr>
                          <a:t>未學習</a:t>
                        </a:r>
                        <a:endParaRPr lang="en-US" sz="1400" b="0">
                          <a:solidFill>
                            <a:srgbClr val="FF0000"/>
                          </a:solidFill>
                          <a:latin typeface="Times New Roman" panose="020206030504050203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R>
                      <a:lnT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T>
                      <a:lnB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  <a:tr h="292100">
                  <a:tc>
                    <a:txBody>
                      <a:bodyPr/>
                      <a:lstStyle/>
                      <a:p>
                        <a:pPr indent="0" algn="ctr">
                          <a:buNone/>
                        </a:pPr>
                        <a:r>
                          <a:rPr lang="en-US" sz="1400" b="0" dirty="0">
                            <a:solidFill>
                              <a:srgbClr val="000000"/>
                            </a:solidFill>
                            <a:latin typeface="Times New Roman" panose="02020603050405020304" charset="-122"/>
                          </a:rPr>
                          <a:t>NA=</a:t>
                        </a:r>
                        <a:r>
                          <a:rPr lang="en-US" sz="1400" b="0" dirty="0" err="1">
                            <a:solidFill>
                              <a:srgbClr val="000000"/>
                            </a:solidFill>
                            <a:latin typeface="Microsoft JhengHei" panose="020B0604030504040204" charset="-122"/>
                          </a:rPr>
                          <a:t>設備無此功能</a:t>
                        </a:r>
                        <a:endParaRPr lang="en-US" sz="1400" b="0" dirty="0">
                          <a:solidFill>
                            <a:srgbClr val="000000"/>
                          </a:solidFill>
                          <a:latin typeface="Times New Roman" panose="02020603050405020304" charset="-122"/>
                        </a:endParaRPr>
                      </a:p>
                    </a:txBody>
                    <a:tcPr marL="12700" marR="12700" marT="12700" anchor="ctr">
                      <a:lnL>
                        <a:noFill/>
                      </a:lnL>
                      <a:lnR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R>
                      <a:lnT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T>
                      <a:lnB w="6350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rgbClr val="A6A6A6"/>
                      </a:solidFill>
                    </a:tcPr>
                  </a:tc>
                </a:tr>
              </a:tbl>
            </a:graphicData>
          </a:graphic>
        </p:graphicFrame>
        <p:cxnSp>
          <p:nvCxnSpPr>
            <p:cNvPr id="5" name="直線接點 4"/>
            <p:cNvCxnSpPr/>
            <p:nvPr/>
          </p:nvCxnSpPr>
          <p:spPr>
            <a:xfrm>
              <a:off x="2546350" y="5600700"/>
              <a:ext cx="0" cy="1168400"/>
            </a:xfrm>
            <a:prstGeom prst="line">
              <a:avLst/>
            </a:prstGeom>
            <a:ln w="762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群組 11"/>
          <p:cNvGrpSpPr/>
          <p:nvPr/>
        </p:nvGrpSpPr>
        <p:grpSpPr>
          <a:xfrm>
            <a:off x="40640" y="6031972"/>
            <a:ext cx="965804" cy="826028"/>
            <a:chOff x="1633611" y="4134687"/>
            <a:chExt cx="382449" cy="327099"/>
          </a:xfrm>
        </p:grpSpPr>
        <p:sp>
          <p:nvSpPr>
            <p:cNvPr id="13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15" name="文字方塊 14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940" y="513080"/>
            <a:ext cx="7943850" cy="30397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166870"/>
            <a:ext cx="7971790" cy="2310765"/>
          </a:xfrm>
          <a:prstGeom prst="rect">
            <a:avLst/>
          </a:prstGeom>
        </p:spPr>
      </p:pic>
    </p:spTree>
  </p:cSld>
  <p:clrMapOvr>
    <a:masterClrMapping/>
  </p:clrMapOvr>
  <p:transition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40" y="10160"/>
            <a:ext cx="12213590" cy="6903085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4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群組 4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6" name="文字方塊 5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文字方塊 6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8890" y="3288665"/>
            <a:ext cx="6110605" cy="3577590"/>
          </a:xfrm>
          <a:prstGeom prst="rect">
            <a:avLst/>
          </a:prstGeom>
          <a:solidFill>
            <a:srgbClr val="082B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101715" y="-20320"/>
            <a:ext cx="6111240" cy="3308985"/>
          </a:xfrm>
          <a:prstGeom prst="rect">
            <a:avLst/>
          </a:prstGeom>
          <a:solidFill>
            <a:srgbClr val="082B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7-Point Star 1"/>
          <p:cNvSpPr/>
          <p:nvPr/>
        </p:nvSpPr>
        <p:spPr>
          <a:xfrm>
            <a:off x="5470525" y="2606040"/>
            <a:ext cx="1250950" cy="1044575"/>
          </a:xfrm>
          <a:prstGeom prst="star7">
            <a:avLst/>
          </a:prstGeom>
          <a:solidFill>
            <a:srgbClr val="B0DB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590253" y="1249045"/>
            <a:ext cx="5170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vi-VN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MAINTENANCE </a:t>
            </a:r>
            <a:r>
              <a:rPr lang="vi-VN" alt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REPORTING SYSTEM</a:t>
            </a:r>
            <a:r>
              <a:rPr lang="en-US" altLang="vi-VN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(M.R.S.)</a:t>
            </a:r>
            <a:endParaRPr lang="en-US" alt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0490" y="4547235"/>
            <a:ext cx="57486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圆角矩形 16"/>
          <p:cNvSpPr/>
          <p:nvPr/>
        </p:nvSpPr>
        <p:spPr>
          <a:xfrm rot="2700000">
            <a:off x="5843270" y="2877820"/>
            <a:ext cx="506095" cy="50038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engXian" panose="02010600030101010101" charset="-122"/>
              <a:ea typeface="DengXian" panose="02010600030101010101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859145" y="2921635"/>
            <a:ext cx="47371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A4A4A4"/>
                </a:solidFill>
                <a:effectLst/>
                <a:uLnTx/>
                <a:uFillTx/>
                <a:latin typeface="DengXian" panose="02010600030101010101" charset="-122"/>
                <a:ea typeface="DengXian" panose="02010600030101010101" charset="-122"/>
              </a:rPr>
              <a:t>BG6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A4A4A4"/>
              </a:solidFill>
              <a:effectLst/>
              <a:uLnTx/>
              <a:uFillTx/>
              <a:latin typeface="DengXian" panose="02010600030101010101" charset="-122"/>
              <a:ea typeface="DengXian" panose="02010600030101010101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100" b="1" dirty="0">
                <a:solidFill>
                  <a:srgbClr val="A4A4A4"/>
                </a:solidFill>
                <a:latin typeface="DengXian" panose="02010600030101010101" charset="-122"/>
                <a:ea typeface="DengXian" panose="02010600030101010101" charset="-122"/>
              </a:rPr>
              <a:t>PVN</a:t>
            </a:r>
            <a:endParaRPr kumimoji="0" lang="en-US" altLang="zh-TW" sz="1100" b="1" i="0" u="none" strike="noStrike" kern="1200" cap="none" spc="0" normalizeH="0" baseline="0" noProof="0" dirty="0">
              <a:ln>
                <a:noFill/>
              </a:ln>
              <a:solidFill>
                <a:srgbClr val="A4A4A4"/>
              </a:solidFill>
              <a:effectLst/>
              <a:uLnTx/>
              <a:uFillTx/>
              <a:latin typeface="DengXian" panose="02010600030101010101" charset="-122"/>
              <a:ea typeface="DengXian" panose="02010600030101010101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6525" y="3775075"/>
            <a:ext cx="5273675" cy="2374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75" y="97155"/>
            <a:ext cx="5099685" cy="3074670"/>
          </a:xfrm>
          <a:prstGeom prst="rect">
            <a:avLst/>
          </a:prstGeom>
        </p:spPr>
      </p:pic>
      <p:grpSp>
        <p:nvGrpSpPr>
          <p:cNvPr id="11" name="群組 10"/>
          <p:cNvGrpSpPr/>
          <p:nvPr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12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15" name="文字方塊 14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Group 7"/>
          <p:cNvGrpSpPr/>
          <p:nvPr/>
        </p:nvGrpSpPr>
        <p:grpSpPr>
          <a:xfrm>
            <a:off x="705485" y="1214120"/>
            <a:ext cx="10780395" cy="5192395"/>
            <a:chOff x="1026" y="1477"/>
            <a:chExt cx="16977" cy="8177"/>
          </a:xfrm>
        </p:grpSpPr>
        <p:sp>
          <p:nvSpPr>
            <p:cNvPr id="4" name="Rectangle 3"/>
            <p:cNvSpPr/>
            <p:nvPr/>
          </p:nvSpPr>
          <p:spPr>
            <a:xfrm>
              <a:off x="1442" y="1690"/>
              <a:ext cx="2054" cy="76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>
                  <a:sym typeface="+mn-ea"/>
                </a:rPr>
                <a:t>Station </a:t>
              </a:r>
              <a:r>
                <a:rPr lang="vi-VN" altLang="en-US"/>
                <a:t>A</a:t>
              </a:r>
              <a:endParaRPr lang="vi-VN" alt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442" y="3037"/>
              <a:ext cx="2054" cy="76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/>
                <a:t>Station B</a:t>
              </a:r>
              <a:endParaRPr lang="vi-VN" alt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442" y="4467"/>
              <a:ext cx="2054" cy="76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>
                  <a:sym typeface="+mn-ea"/>
                </a:rPr>
                <a:t>Station C</a:t>
              </a:r>
              <a:endParaRPr lang="vi-VN" altLang="en-US">
                <a:sym typeface="+mn-ea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442" y="5862"/>
              <a:ext cx="2054" cy="762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>
                  <a:sym typeface="+mn-ea"/>
                </a:rPr>
                <a:t>Station n</a:t>
              </a:r>
              <a:endParaRPr lang="vi-VN" altLang="en-US">
                <a:sym typeface="+mn-ea"/>
              </a:endParaRPr>
            </a:p>
          </p:txBody>
        </p:sp>
        <p:cxnSp>
          <p:nvCxnSpPr>
            <p:cNvPr id="10" name="Straight Arrow Connector 9"/>
            <p:cNvCxnSpPr>
              <a:stCxn id="4" idx="3"/>
              <a:endCxn id="34" idx="1"/>
            </p:cNvCxnSpPr>
            <p:nvPr/>
          </p:nvCxnSpPr>
          <p:spPr>
            <a:xfrm>
              <a:off x="3496" y="2071"/>
              <a:ext cx="507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3496" y="3418"/>
              <a:ext cx="439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3496" y="4848"/>
              <a:ext cx="439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3496" y="6304"/>
              <a:ext cx="439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12158" y="1477"/>
              <a:ext cx="5092" cy="2322"/>
            </a:xfrm>
            <a:prstGeom prst="round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/>
                <a:t>PC Database (Sqlite3)</a:t>
              </a:r>
              <a:endParaRPr lang="vi-VN" altLang="en-US"/>
            </a:p>
            <a:p>
              <a:pPr algn="ctr"/>
              <a:r>
                <a:rPr lang="vi-VN" altLang="en-US"/>
                <a:t>Get data from client and update to database</a:t>
              </a:r>
              <a:endParaRPr lang="vi-VN" altLang="en-US"/>
            </a:p>
            <a:p>
              <a:pPr algn="ctr"/>
              <a:r>
                <a:rPr lang="vi-VN" altLang="en-US"/>
                <a:t>(SERVER)</a:t>
              </a:r>
              <a:endParaRPr lang="vi-VN" altLang="en-US"/>
            </a:p>
          </p:txBody>
        </p:sp>
        <p:cxnSp>
          <p:nvCxnSpPr>
            <p:cNvPr id="23" name="Straight Arrow Connector 22"/>
            <p:cNvCxnSpPr>
              <a:stCxn id="21" idx="2"/>
              <a:endCxn id="25" idx="0"/>
            </p:cNvCxnSpPr>
            <p:nvPr/>
          </p:nvCxnSpPr>
          <p:spPr>
            <a:xfrm flipH="1">
              <a:off x="14214" y="3799"/>
              <a:ext cx="490" cy="2225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13080" y="6024"/>
              <a:ext cx="2267" cy="11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/>
                <a:t>DASH BOARD 2</a:t>
              </a:r>
              <a:endParaRPr lang="vi-VN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333" y="6024"/>
              <a:ext cx="2267" cy="11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/>
                <a:t>DASH BOARD 1</a:t>
              </a:r>
              <a:endParaRPr lang="vi-VN" alt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5698" y="6024"/>
              <a:ext cx="2267" cy="112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/>
                <a:t>DASH BOARD n</a:t>
              </a:r>
              <a:endParaRPr lang="vi-VN" alt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11515" y="3833"/>
              <a:ext cx="3151" cy="219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29" name="Straight Arrow Connector 28"/>
            <p:cNvCxnSpPr>
              <a:endCxn id="27" idx="0"/>
            </p:cNvCxnSpPr>
            <p:nvPr/>
          </p:nvCxnSpPr>
          <p:spPr>
            <a:xfrm>
              <a:off x="14666" y="3833"/>
              <a:ext cx="2166" cy="219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33" name="Text Box 32"/>
            <p:cNvSpPr txBox="1"/>
            <p:nvPr/>
          </p:nvSpPr>
          <p:spPr>
            <a:xfrm>
              <a:off x="15995" y="4101"/>
              <a:ext cx="2008" cy="1016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vi-V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SQL query</a:t>
              </a:r>
              <a:endPara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algn="ctr"/>
              <a:r>
                <a:rPr lang="vi-V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by </a:t>
              </a:r>
              <a:r>
                <a:rPr lang="vi-V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HTTP</a:t>
              </a:r>
              <a:endPara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87" y="3183"/>
              <a:ext cx="3539" cy="1623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Get data from UI: “station, project, date, start time, endtime, lost, time, shift, line, i</a:t>
              </a:r>
              <a:r>
                <a:rPr lang="en-US" altLang="vi-VN" sz="160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vi-VN" altLang="en-US" sz="1600">
                  <a:latin typeface="Arial" panose="020B0604020202020204" pitchFamily="34" charset="0"/>
                  <a:cs typeface="Arial" panose="020B0604020202020204" pitchFamily="34" charset="0"/>
                </a:rPr>
                <a:t>sue, action, DRI, remart”</a:t>
              </a:r>
              <a:endParaRPr lang="vi-V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003" y="1577"/>
              <a:ext cx="1506" cy="988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 sz="1600"/>
                <a:t>UI tool </a:t>
              </a:r>
              <a:endParaRPr lang="vi-VN" altLang="en-US" sz="160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003" y="2924"/>
              <a:ext cx="1506" cy="988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 sz="1600"/>
                <a:t>UI tool </a:t>
              </a:r>
              <a:endParaRPr lang="vi-VN" altLang="en-US" sz="16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003" y="4306"/>
              <a:ext cx="1506" cy="988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 sz="1600"/>
                <a:t>UI tool </a:t>
              </a:r>
              <a:endParaRPr lang="vi-VN" altLang="en-US" sz="16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003" y="5749"/>
              <a:ext cx="1506" cy="988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 sz="1600"/>
                <a:t>UI tool </a:t>
              </a:r>
              <a:endParaRPr lang="vi-VN" altLang="en-US" sz="1600"/>
            </a:p>
          </p:txBody>
        </p:sp>
        <p:cxnSp>
          <p:nvCxnSpPr>
            <p:cNvPr id="38" name="Straight Arrow Connector 37"/>
            <p:cNvCxnSpPr>
              <a:stCxn id="34" idx="3"/>
              <a:endCxn id="31" idx="1"/>
            </p:cNvCxnSpPr>
            <p:nvPr/>
          </p:nvCxnSpPr>
          <p:spPr>
            <a:xfrm>
              <a:off x="5509" y="2071"/>
              <a:ext cx="678" cy="192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40" name="Straight Arrow Connector 39"/>
            <p:cNvCxnSpPr>
              <a:endCxn id="31" idx="1"/>
            </p:cNvCxnSpPr>
            <p:nvPr/>
          </p:nvCxnSpPr>
          <p:spPr>
            <a:xfrm>
              <a:off x="5509" y="3451"/>
              <a:ext cx="678" cy="544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5509" y="3956"/>
              <a:ext cx="659" cy="851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V="1">
              <a:off x="5509" y="3936"/>
              <a:ext cx="632" cy="2368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cxnSp>
          <p:nvCxnSpPr>
            <p:cNvPr id="43" name="Straight Arrow Connector 42"/>
            <p:cNvCxnSpPr>
              <a:stCxn id="31" idx="3"/>
              <a:endCxn id="21" idx="1"/>
            </p:cNvCxnSpPr>
            <p:nvPr/>
          </p:nvCxnSpPr>
          <p:spPr>
            <a:xfrm flipV="1">
              <a:off x="9726" y="2638"/>
              <a:ext cx="2432" cy="135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44" name="Text Box 43"/>
            <p:cNvSpPr txBox="1"/>
            <p:nvPr/>
          </p:nvSpPr>
          <p:spPr>
            <a:xfrm>
              <a:off x="7667" y="1690"/>
              <a:ext cx="4281" cy="1016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vi-V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Update data</a:t>
              </a:r>
              <a:endPara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  <a:p>
              <a:pPr algn="ctr"/>
              <a:r>
                <a:rPr lang="vi-V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SQLite by HTTP protocol</a:t>
              </a:r>
              <a:endPara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04" y="7676"/>
              <a:ext cx="3448" cy="1215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>
                  <a:sym typeface="+mn-ea"/>
                </a:rPr>
                <a:t>OEE webservice</a:t>
              </a:r>
              <a:endParaRPr lang="vi-VN" altLang="en-US">
                <a:sym typeface="+mn-ea"/>
              </a:endParaRPr>
            </a:p>
            <a:p>
              <a:pPr algn="ctr"/>
              <a:r>
                <a:rPr lang="vi-VN" altLang="en-US">
                  <a:sym typeface="+mn-ea"/>
                </a:rPr>
                <a:t>tool to parsing data and send to server</a:t>
              </a:r>
              <a:endParaRPr lang="vi-VN" altLang="en-US">
                <a:sym typeface="+mn-ea"/>
              </a:endParaRP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V="1">
              <a:off x="6752" y="2638"/>
              <a:ext cx="5358" cy="5612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1026" y="9197"/>
              <a:ext cx="8320" cy="457"/>
            </a:xfrm>
            <a:prstGeom prst="rect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vi-VN" altLang="en-US"/>
                <a:t>CLIENTs</a:t>
              </a:r>
              <a:endParaRPr lang="vi-VN" altLang="en-US"/>
            </a:p>
          </p:txBody>
        </p:sp>
      </p:grpSp>
      <p:sp>
        <p:nvSpPr>
          <p:cNvPr id="9" name="Text Box 8"/>
          <p:cNvSpPr txBox="1"/>
          <p:nvPr/>
        </p:nvSpPr>
        <p:spPr>
          <a:xfrm>
            <a:off x="47625" y="27305"/>
            <a:ext cx="120967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40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CONCEPT FOR</a:t>
            </a:r>
            <a:r>
              <a:rPr lang="vi-VN" altLang="en-US" sz="40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40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</a:t>
            </a:r>
            <a:r>
              <a:rPr lang="vi-VN" altLang="en-US" sz="40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 SYSTEM</a:t>
            </a:r>
            <a:r>
              <a:rPr lang="en-US" altLang="vi-VN" sz="40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(M.R.S.)</a:t>
            </a:r>
            <a:endParaRPr lang="en-US" altLang="vi-VN" sz="4000" b="1">
              <a:solidFill>
                <a:srgbClr val="082B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08885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687060" y="273685"/>
            <a:ext cx="644588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vi-VN" sz="35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MAINTENANCE </a:t>
            </a:r>
            <a:r>
              <a:rPr lang="vi-VN" altLang="en-US" sz="35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REPORTING SYSTEM</a:t>
            </a:r>
            <a:r>
              <a:rPr lang="en-US" altLang="vi-VN" sz="35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(M.R.S.)</a:t>
            </a:r>
            <a:endParaRPr lang="vi-VN" altLang="en-US" sz="3500">
              <a:solidFill>
                <a:srgbClr val="082B60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967220" y="2388870"/>
            <a:ext cx="4783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0000"/>
              </a:lnSpc>
              <a:buFont typeface="Wingdings" panose="05000000000000000000" charset="0"/>
              <a:buChar char="v"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11219746" y="6038028"/>
            <a:ext cx="965804" cy="826028"/>
            <a:chOff x="1633611" y="4134687"/>
            <a:chExt cx="382449" cy="327099"/>
          </a:xfrm>
        </p:grpSpPr>
        <p:sp>
          <p:nvSpPr>
            <p:cNvPr id="22" name="Oval 21"/>
            <p:cNvSpPr/>
            <p:nvPr/>
          </p:nvSpPr>
          <p:spPr>
            <a:xfrm rot="20111049">
              <a:off x="1633611" y="4134687"/>
              <a:ext cx="290385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700"/>
            </a:p>
          </p:txBody>
        </p:sp>
        <p:grpSp>
          <p:nvGrpSpPr>
            <p:cNvPr id="23" name="群組 22"/>
            <p:cNvGrpSpPr/>
            <p:nvPr/>
          </p:nvGrpSpPr>
          <p:grpSpPr>
            <a:xfrm>
              <a:off x="1678106" y="4270681"/>
              <a:ext cx="337954" cy="191105"/>
              <a:chOff x="2064821" y="4249726"/>
              <a:chExt cx="337954" cy="191105"/>
            </a:xfrm>
          </p:grpSpPr>
          <p:sp>
            <p:nvSpPr>
              <p:cNvPr id="24" name="文字方塊 23"/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en-US" altLang="zh-TW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2064821" y="4331700"/>
                <a:ext cx="337954" cy="10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1200" b="1" dirty="0">
                    <a:ln w="3175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1200" b="1" dirty="0">
                    <a:ln w="0">
                      <a:solidFill>
                        <a:schemeClr val="bg2">
                          <a:lumMod val="75000"/>
                        </a:schemeClr>
                      </a:solidFill>
                    </a:ln>
                    <a:solidFill>
                      <a:schemeClr val="tx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en-US" altLang="zh-TW" sz="1200" b="1" dirty="0">
                  <a:ln w="0">
                    <a:solidFill>
                      <a:schemeClr val="bg2">
                        <a:lumMod val="75000"/>
                      </a:schemeClr>
                    </a:solidFill>
                  </a:ln>
                  <a:solidFill>
                    <a:schemeClr val="tx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5" y="1704340"/>
            <a:ext cx="8783320" cy="4677410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2532380" y="750570"/>
            <a:ext cx="1700530" cy="874395"/>
          </a:xfrm>
          <a:prstGeom prst="wedgeRoundRectCallout">
            <a:avLst>
              <a:gd name="adj1" fmla="val 2912"/>
              <a:gd name="adj2" fmla="val 118627"/>
              <a:gd name="adj3" fmla="val 16667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Fill in information 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6668135" y="1921510"/>
            <a:ext cx="1671320" cy="1208405"/>
          </a:xfrm>
          <a:prstGeom prst="wedgeRoundRectCallout">
            <a:avLst>
              <a:gd name="adj1" fmla="val -123442"/>
              <a:gd name="adj2" fmla="val 70441"/>
              <a:gd name="adj3" fmla="val 16667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vi-VN" altLang="en-US" sz="2000">
                <a:latin typeface="Arial" panose="020B0604020202020204" pitchFamily="34" charset="0"/>
                <a:cs typeface="Arial" panose="020B0604020202020204" pitchFamily="34" charset="0"/>
              </a:rPr>
              <a:t>Export data as excel file</a:t>
            </a:r>
            <a:endParaRPr lang="vi-V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1047750" y="5640705"/>
            <a:ext cx="1700530" cy="874395"/>
          </a:xfrm>
          <a:prstGeom prst="wedgeRoundRectCallout">
            <a:avLst>
              <a:gd name="adj1" fmla="val 47722"/>
              <a:gd name="adj2" fmla="val -97785"/>
              <a:gd name="adj3" fmla="val 16667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View Report List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117965" y="1809750"/>
            <a:ext cx="3014980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vi-V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sing Python's Tkinter library for GUI (图形用户界面Graphical User Interface）development and SQLite for database management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vi-V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Purpose: M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anage repair reports </a:t>
            </a:r>
            <a:r>
              <a:rPr lang="vi-V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through an interactive user interface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954405" y="2112010"/>
            <a:ext cx="1304290" cy="4838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AOI 1</a:t>
            </a:r>
            <a:endParaRPr lang="vi-VN" altLang="en-US"/>
          </a:p>
        </p:txBody>
      </p:sp>
      <p:sp>
        <p:nvSpPr>
          <p:cNvPr id="5" name="Rectangle 4"/>
          <p:cNvSpPr/>
          <p:nvPr/>
        </p:nvSpPr>
        <p:spPr>
          <a:xfrm>
            <a:off x="954405" y="2967355"/>
            <a:ext cx="1304290" cy="4838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AOI 2</a:t>
            </a:r>
            <a:endParaRPr lang="vi-VN" altLang="en-US"/>
          </a:p>
        </p:txBody>
      </p:sp>
      <p:sp>
        <p:nvSpPr>
          <p:cNvPr id="6" name="Rectangle 5"/>
          <p:cNvSpPr/>
          <p:nvPr/>
        </p:nvSpPr>
        <p:spPr>
          <a:xfrm>
            <a:off x="954405" y="3875405"/>
            <a:ext cx="1304290" cy="4838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AOI 3</a:t>
            </a:r>
            <a:endParaRPr lang="vi-VN" altLang="en-US"/>
          </a:p>
        </p:txBody>
      </p:sp>
      <p:sp>
        <p:nvSpPr>
          <p:cNvPr id="7" name="Rectangle 6"/>
          <p:cNvSpPr/>
          <p:nvPr/>
        </p:nvSpPr>
        <p:spPr>
          <a:xfrm>
            <a:off x="954405" y="4761230"/>
            <a:ext cx="1304290" cy="4838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AOI n</a:t>
            </a:r>
            <a:endParaRPr lang="vi-VN" altLang="en-US"/>
          </a:p>
        </p:txBody>
      </p:sp>
      <p:sp>
        <p:nvSpPr>
          <p:cNvPr id="8" name="Rectangle 7"/>
          <p:cNvSpPr/>
          <p:nvPr/>
        </p:nvSpPr>
        <p:spPr>
          <a:xfrm>
            <a:off x="4744720" y="3391535"/>
            <a:ext cx="2028190" cy="48387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vi-VN" sz="1400"/>
              <a:t>FTP SERVER</a:t>
            </a:r>
            <a:endParaRPr lang="en-US" altLang="vi-VN" sz="1400"/>
          </a:p>
          <a:p>
            <a:pPr algn="ctr"/>
            <a:r>
              <a:rPr lang="en-US" altLang="vi-VN" sz="1400"/>
              <a:t>10.177.</a:t>
            </a:r>
            <a:r>
              <a:rPr lang="vi-VN" altLang="en-US" sz="1400"/>
              <a:t>yyy</a:t>
            </a:r>
            <a:r>
              <a:rPr lang="en-US" altLang="vi-VN" sz="1400"/>
              <a:t>.</a:t>
            </a:r>
            <a:r>
              <a:rPr lang="vi-VN" altLang="en-US" sz="1400"/>
              <a:t>XXX</a:t>
            </a:r>
            <a:endParaRPr lang="vi-VN" altLang="en-US" sz="1400"/>
          </a:p>
        </p:txBody>
      </p:sp>
      <p:sp>
        <p:nvSpPr>
          <p:cNvPr id="9" name="Rectangle 8"/>
          <p:cNvSpPr/>
          <p:nvPr/>
        </p:nvSpPr>
        <p:spPr>
          <a:xfrm>
            <a:off x="2537460" y="2040255"/>
            <a:ext cx="1614170" cy="62738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1600"/>
              <a:t>Data processing tool</a:t>
            </a:r>
            <a:endParaRPr lang="vi-VN" altLang="en-US" sz="1600"/>
          </a:p>
        </p:txBody>
      </p:sp>
      <p:cxnSp>
        <p:nvCxnSpPr>
          <p:cNvPr id="10" name="Straight Arrow Connector 9"/>
          <p:cNvCxnSpPr>
            <a:stCxn id="4" idx="3"/>
            <a:endCxn id="9" idx="1"/>
          </p:cNvCxnSpPr>
          <p:nvPr/>
        </p:nvCxnSpPr>
        <p:spPr>
          <a:xfrm>
            <a:off x="2258695" y="2353945"/>
            <a:ext cx="27876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258695" y="3209290"/>
            <a:ext cx="27876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2537460" y="2895600"/>
            <a:ext cx="1614170" cy="62738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1600"/>
              <a:t>Data processing tool</a:t>
            </a:r>
            <a:endParaRPr lang="vi-VN" altLang="en-US" sz="160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58695" y="4117340"/>
            <a:ext cx="27876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14" name="Rectangle 13"/>
          <p:cNvSpPr/>
          <p:nvPr/>
        </p:nvSpPr>
        <p:spPr>
          <a:xfrm>
            <a:off x="2537460" y="3803650"/>
            <a:ext cx="1614170" cy="62738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1600"/>
              <a:t>Data processing tool</a:t>
            </a:r>
            <a:endParaRPr lang="vi-VN" altLang="en-US" sz="160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258695" y="5041900"/>
            <a:ext cx="278765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16" name="Rectangle 15"/>
          <p:cNvSpPr/>
          <p:nvPr/>
        </p:nvSpPr>
        <p:spPr>
          <a:xfrm>
            <a:off x="2537460" y="4728210"/>
            <a:ext cx="1614170" cy="62738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 sz="1600"/>
              <a:t>Data processing tool</a:t>
            </a:r>
            <a:endParaRPr lang="vi-VN" altLang="en-US" sz="1600"/>
          </a:p>
        </p:txBody>
      </p:sp>
      <p:cxnSp>
        <p:nvCxnSpPr>
          <p:cNvPr id="17" name="Straight Arrow Connector 16"/>
          <p:cNvCxnSpPr>
            <a:stCxn id="9" idx="3"/>
            <a:endCxn id="8" idx="1"/>
          </p:cNvCxnSpPr>
          <p:nvPr/>
        </p:nvCxnSpPr>
        <p:spPr>
          <a:xfrm>
            <a:off x="4151630" y="2353945"/>
            <a:ext cx="593090" cy="1279525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18" name="Straight Arrow Connector 17"/>
          <p:cNvCxnSpPr>
            <a:stCxn id="12" idx="3"/>
          </p:cNvCxnSpPr>
          <p:nvPr/>
        </p:nvCxnSpPr>
        <p:spPr>
          <a:xfrm>
            <a:off x="4151630" y="3209290"/>
            <a:ext cx="580390" cy="40259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19" name="Straight Arrow Connector 18"/>
          <p:cNvCxnSpPr>
            <a:endCxn id="8" idx="1"/>
          </p:cNvCxnSpPr>
          <p:nvPr/>
        </p:nvCxnSpPr>
        <p:spPr>
          <a:xfrm flipV="1">
            <a:off x="4151630" y="3633470"/>
            <a:ext cx="593090" cy="48387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4151630" y="3642995"/>
            <a:ext cx="580390" cy="1398905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21" name="Rounded Rectangle 20"/>
          <p:cNvSpPr/>
          <p:nvPr/>
        </p:nvSpPr>
        <p:spPr>
          <a:xfrm>
            <a:off x="7759065" y="1976755"/>
            <a:ext cx="3233420" cy="1474470"/>
          </a:xfrm>
          <a:prstGeom prst="round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PC Database (Sqlite3)</a:t>
            </a:r>
            <a:endParaRPr lang="vi-VN" altLang="en-US"/>
          </a:p>
          <a:p>
            <a:pPr algn="ctr"/>
            <a:r>
              <a:rPr lang="vi-VN" altLang="en-US"/>
              <a:t>Get data CSV from FTP and  update to database</a:t>
            </a:r>
            <a:endParaRPr lang="vi-VN" altLang="en-US"/>
          </a:p>
        </p:txBody>
      </p:sp>
      <p:cxnSp>
        <p:nvCxnSpPr>
          <p:cNvPr id="22" name="Straight Arrow Connector 21"/>
          <p:cNvCxnSpPr>
            <a:stCxn id="8" idx="3"/>
            <a:endCxn id="21" idx="1"/>
          </p:cNvCxnSpPr>
          <p:nvPr/>
        </p:nvCxnSpPr>
        <p:spPr>
          <a:xfrm flipV="1">
            <a:off x="6772910" y="2713990"/>
            <a:ext cx="986155" cy="919480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3" name="Straight Arrow Connector 22"/>
          <p:cNvCxnSpPr>
            <a:stCxn id="21" idx="2"/>
            <a:endCxn id="25" idx="0"/>
          </p:cNvCxnSpPr>
          <p:nvPr/>
        </p:nvCxnSpPr>
        <p:spPr>
          <a:xfrm flipH="1">
            <a:off x="9064625" y="3451225"/>
            <a:ext cx="311150" cy="1412875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25" name="Rectangle 24"/>
          <p:cNvSpPr/>
          <p:nvPr/>
        </p:nvSpPr>
        <p:spPr>
          <a:xfrm>
            <a:off x="8344535" y="4864100"/>
            <a:ext cx="1439545" cy="71564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DASH BOARD 2</a:t>
            </a:r>
            <a:endParaRPr lang="vi-VN" altLang="en-US"/>
          </a:p>
        </p:txBody>
      </p:sp>
      <p:sp>
        <p:nvSpPr>
          <p:cNvPr id="26" name="Rectangle 25"/>
          <p:cNvSpPr/>
          <p:nvPr/>
        </p:nvSpPr>
        <p:spPr>
          <a:xfrm>
            <a:off x="6600190" y="4864100"/>
            <a:ext cx="1439545" cy="71564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DASH BOARD 1</a:t>
            </a:r>
            <a:endParaRPr lang="vi-VN" altLang="en-US"/>
          </a:p>
        </p:txBody>
      </p:sp>
      <p:sp>
        <p:nvSpPr>
          <p:cNvPr id="27" name="Rectangle 26"/>
          <p:cNvSpPr/>
          <p:nvPr/>
        </p:nvSpPr>
        <p:spPr>
          <a:xfrm>
            <a:off x="10006965" y="4864100"/>
            <a:ext cx="1439545" cy="71564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DASH BOARD n</a:t>
            </a:r>
            <a:endParaRPr lang="vi-VN" altLang="en-US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7350760" y="3472815"/>
            <a:ext cx="2000885" cy="1391285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9" name="Straight Arrow Connector 28"/>
          <p:cNvCxnSpPr>
            <a:endCxn id="27" idx="0"/>
          </p:cNvCxnSpPr>
          <p:nvPr/>
        </p:nvCxnSpPr>
        <p:spPr>
          <a:xfrm>
            <a:off x="9351645" y="3472815"/>
            <a:ext cx="1375410" cy="1391285"/>
          </a:xfrm>
          <a:prstGeom prst="straightConnector1">
            <a:avLst/>
          </a:prstGeom>
          <a:ln>
            <a:headEnd type="arrow" w="med" len="med"/>
            <a:tailEnd type="arrow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32" name="Rectangle 31"/>
          <p:cNvSpPr/>
          <p:nvPr/>
        </p:nvSpPr>
        <p:spPr>
          <a:xfrm>
            <a:off x="622935" y="5440045"/>
            <a:ext cx="3925570" cy="29654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LOCAL DATA FROM AOI TOOL</a:t>
            </a:r>
            <a:endParaRPr lang="vi-VN" altLang="en-US"/>
          </a:p>
        </p:txBody>
      </p:sp>
      <p:sp>
        <p:nvSpPr>
          <p:cNvPr id="33" name="Text Box 32"/>
          <p:cNvSpPr txBox="1"/>
          <p:nvPr/>
        </p:nvSpPr>
        <p:spPr>
          <a:xfrm>
            <a:off x="10195560" y="3642995"/>
            <a:ext cx="1275080" cy="645160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p>
            <a:pPr algn="ctr"/>
            <a:r>
              <a: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SQL query</a:t>
            </a:r>
            <a:endParaRPr lang="vi-V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by </a:t>
            </a:r>
            <a:r>
              <a:rPr lang="vi-V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HTTP</a:t>
            </a:r>
            <a:endParaRPr lang="vi-V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44720" y="3900170"/>
            <a:ext cx="2028190" cy="514985"/>
          </a:xfrm>
          <a:prstGeom prst="rect">
            <a:avLst/>
          </a:prstGeom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vi-VN" altLang="en-US"/>
              <a:t>Images, test logs</a:t>
            </a:r>
            <a:endParaRPr lang="vi-VN" altLang="en-US"/>
          </a:p>
        </p:txBody>
      </p:sp>
      <p:sp>
        <p:nvSpPr>
          <p:cNvPr id="24" name="Text Box 23"/>
          <p:cNvSpPr txBox="1"/>
          <p:nvPr/>
        </p:nvSpPr>
        <p:spPr>
          <a:xfrm>
            <a:off x="1019175" y="264795"/>
            <a:ext cx="97726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 sz="4000" b="1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CONCEPT FOR </a:t>
            </a:r>
            <a:r>
              <a:rPr lang="vi-VN" altLang="en-US" sz="4000" b="1" dirty="0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</a:t>
            </a:r>
            <a:r>
              <a:rPr lang="en-US" altLang="vi-VN" sz="4000" b="1" dirty="0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AOI</a:t>
            </a:r>
            <a:r>
              <a:rPr lang="vi-VN" altLang="en-US" sz="4000" b="1" dirty="0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MONITORING PROGRAM </a:t>
            </a:r>
            <a:r>
              <a:rPr lang="en-US" altLang="vi-VN" sz="4000" b="1" dirty="0">
                <a:solidFill>
                  <a:srgbClr val="082B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(S.A.M.P.)</a:t>
            </a:r>
            <a:endParaRPr lang="en-US" altLang="vi-VN" sz="4000" b="1" dirty="0">
              <a:solidFill>
                <a:srgbClr val="082B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13840" y="168275"/>
            <a:ext cx="9468485" cy="1245235"/>
          </a:xfrm>
          <a:prstGeom prst="rect">
            <a:avLst/>
          </a:prstGeom>
          <a:solidFill>
            <a:srgbClr val="0A142F">
              <a:alpha val="67000"/>
            </a:srgb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vi-VN" alt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 STEPS</a:t>
            </a:r>
            <a:endParaRPr lang="en-US" altLang="vi-VN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034195" y="5260340"/>
            <a:ext cx="4322106" cy="1325268"/>
            <a:chOff x="295" y="3870"/>
            <a:chExt cx="6115" cy="1679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sp>
          <p:nvSpPr>
            <p:cNvPr id="9" name="Flowchart: Terminator 8"/>
            <p:cNvSpPr/>
            <p:nvPr/>
          </p:nvSpPr>
          <p:spPr>
            <a:xfrm>
              <a:off x="450" y="3870"/>
              <a:ext cx="5960" cy="1679"/>
            </a:xfrm>
            <a:prstGeom prst="flowChartTerminator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295" y="4378"/>
              <a:ext cx="1340" cy="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vi-VN" altLang="en-US" sz="2400" b="1">
                  <a:solidFill>
                    <a:schemeClr val="bg1"/>
                  </a:solidFill>
                </a:rPr>
                <a:t>05</a:t>
              </a:r>
              <a:endParaRPr lang="vi-VN" altLang="en-US" sz="2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144385" y="3529965"/>
            <a:ext cx="4432300" cy="1454150"/>
            <a:chOff x="450" y="3870"/>
            <a:chExt cx="6500" cy="1720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sp>
          <p:nvSpPr>
            <p:cNvPr id="20" name="Flowchart: Terminator 19"/>
            <p:cNvSpPr/>
            <p:nvPr/>
          </p:nvSpPr>
          <p:spPr>
            <a:xfrm>
              <a:off x="450" y="3870"/>
              <a:ext cx="5960" cy="1679"/>
            </a:xfrm>
            <a:prstGeom prst="flowChartTermina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5378" y="4458"/>
              <a:ext cx="134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/>
                  </a:solidFill>
                </a14:hiddenFill>
              </a:ext>
            </a:extLst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vi-VN" altLang="en-US" sz="2400" b="1">
                  <a:solidFill>
                    <a:schemeClr val="bg1"/>
                  </a:solidFill>
                </a:rPr>
                <a:t>04</a:t>
              </a:r>
              <a:endParaRPr lang="vi-V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22" name="Curved Left Arrow 21"/>
            <p:cNvSpPr/>
            <p:nvPr/>
          </p:nvSpPr>
          <p:spPr>
            <a:xfrm>
              <a:off x="6210" y="3870"/>
              <a:ext cx="740" cy="1720"/>
            </a:xfrm>
            <a:prstGeom prst="curvedLef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00430" y="3529965"/>
            <a:ext cx="4520565" cy="1454150"/>
            <a:chOff x="450" y="3870"/>
            <a:chExt cx="6500" cy="1720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sp>
          <p:nvSpPr>
            <p:cNvPr id="24" name="Flowchart: Terminator 23"/>
            <p:cNvSpPr/>
            <p:nvPr/>
          </p:nvSpPr>
          <p:spPr>
            <a:xfrm>
              <a:off x="450" y="3870"/>
              <a:ext cx="5960" cy="1679"/>
            </a:xfrm>
            <a:prstGeom prst="flowChartTerminator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5259" y="4436"/>
              <a:ext cx="134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4"/>
                  </a:solidFill>
                </a14:hiddenFill>
              </a:ext>
            </a:ex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vi-VN" altLang="en-US" sz="2400" b="1">
                  <a:solidFill>
                    <a:schemeClr val="bg1"/>
                  </a:solidFill>
                </a:rPr>
                <a:t>02</a:t>
              </a:r>
              <a:endParaRPr lang="vi-VN" altLang="en-US" sz="2400" b="1">
                <a:solidFill>
                  <a:schemeClr val="bg1"/>
                </a:solidFill>
              </a:endParaRPr>
            </a:p>
          </p:txBody>
        </p:sp>
        <p:sp>
          <p:nvSpPr>
            <p:cNvPr id="26" name="Curved Left Arrow 25"/>
            <p:cNvSpPr/>
            <p:nvPr/>
          </p:nvSpPr>
          <p:spPr>
            <a:xfrm>
              <a:off x="6210" y="3870"/>
              <a:ext cx="740" cy="1720"/>
            </a:xfrm>
            <a:prstGeom prst="curvedLef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3559175" y="1910715"/>
            <a:ext cx="4512945" cy="1558290"/>
            <a:chOff x="5285" y="3105"/>
            <a:chExt cx="7107" cy="2454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grpSp>
          <p:nvGrpSpPr>
            <p:cNvPr id="27" name="Group 26"/>
            <p:cNvGrpSpPr/>
            <p:nvPr/>
          </p:nvGrpSpPr>
          <p:grpSpPr>
            <a:xfrm>
              <a:off x="5596" y="3105"/>
              <a:ext cx="6796" cy="2235"/>
              <a:chOff x="205" y="3870"/>
              <a:chExt cx="6205" cy="1679"/>
            </a:xfr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grpSpPr>
          <p:sp>
            <p:nvSpPr>
              <p:cNvPr id="28" name="Flowchart: Terminator 27"/>
              <p:cNvSpPr/>
              <p:nvPr/>
            </p:nvSpPr>
            <p:spPr>
              <a:xfrm>
                <a:off x="450" y="3870"/>
                <a:ext cx="5960" cy="1679"/>
              </a:xfrm>
              <a:prstGeom prst="flowChartTermina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 Box 28"/>
              <p:cNvSpPr txBox="1"/>
              <p:nvPr/>
            </p:nvSpPr>
            <p:spPr>
              <a:xfrm>
                <a:off x="205" y="4437"/>
                <a:ext cx="1340" cy="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5"/>
                    </a:solidFill>
                  </a14:hiddenFill>
                </a:ext>
              </a:extLst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vi-VN" altLang="en-US" sz="2400" b="1">
                    <a:solidFill>
                      <a:schemeClr val="bg1"/>
                    </a:solidFill>
                  </a:rPr>
                  <a:t>01</a:t>
                </a:r>
                <a:endParaRPr lang="vi-V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" name="Curved Right Arrow 31"/>
            <p:cNvSpPr/>
            <p:nvPr/>
          </p:nvSpPr>
          <p:spPr>
            <a:xfrm>
              <a:off x="5285" y="3183"/>
              <a:ext cx="899" cy="2376"/>
            </a:xfrm>
            <a:prstGeom prst="curvedRightArrow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74675" y="5184775"/>
            <a:ext cx="4516935" cy="1508760"/>
            <a:chOff x="905" y="8165"/>
            <a:chExt cx="7113" cy="2376"/>
          </a:xfrm>
          <a:effectLst>
            <a:innerShdw blurRad="63500" dist="50800" dir="18900000">
              <a:prstClr val="black">
                <a:alpha val="50000"/>
              </a:prstClr>
            </a:innerShdw>
          </a:effectLst>
        </p:grpSpPr>
        <p:grpSp>
          <p:nvGrpSpPr>
            <p:cNvPr id="15" name="Group 14"/>
            <p:cNvGrpSpPr/>
            <p:nvPr/>
          </p:nvGrpSpPr>
          <p:grpSpPr>
            <a:xfrm>
              <a:off x="1089" y="8284"/>
              <a:ext cx="6929" cy="2087"/>
              <a:chOff x="222" y="3870"/>
              <a:chExt cx="6188" cy="1679"/>
            </a:xfrm>
          </p:grpSpPr>
          <p:sp>
            <p:nvSpPr>
              <p:cNvPr id="16" name="Flowchart: Terminator 15"/>
              <p:cNvSpPr/>
              <p:nvPr/>
            </p:nvSpPr>
            <p:spPr>
              <a:xfrm>
                <a:off x="450" y="3870"/>
                <a:ext cx="5960" cy="1679"/>
              </a:xfrm>
              <a:prstGeom prst="flowChartTerminator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 Box 16"/>
              <p:cNvSpPr txBox="1"/>
              <p:nvPr/>
            </p:nvSpPr>
            <p:spPr>
              <a:xfrm>
                <a:off x="222" y="4419"/>
                <a:ext cx="1340" cy="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vi-VN" altLang="en-US" sz="2400" b="1">
                    <a:solidFill>
                      <a:schemeClr val="bg1"/>
                    </a:solidFill>
                  </a:rPr>
                  <a:t>03</a:t>
                </a:r>
                <a:endParaRPr lang="vi-V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4" name="Curved Right Arrow 33"/>
            <p:cNvSpPr/>
            <p:nvPr/>
          </p:nvSpPr>
          <p:spPr>
            <a:xfrm>
              <a:off x="905" y="8165"/>
              <a:ext cx="899" cy="2376"/>
            </a:xfrm>
            <a:prstGeom prst="curved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Curved Right Arrow 34"/>
          <p:cNvSpPr/>
          <p:nvPr/>
        </p:nvSpPr>
        <p:spPr>
          <a:xfrm>
            <a:off x="6936740" y="5168265"/>
            <a:ext cx="570865" cy="1508760"/>
          </a:xfrm>
          <a:prstGeom prst="curvedRightArrow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4688840" y="2266950"/>
            <a:ext cx="3117850" cy="706755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the website interface template </a:t>
            </a:r>
            <a:endParaRPr lang="vi-VN" alt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513840" y="5739765"/>
            <a:ext cx="4035425" cy="398780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the code on AOI stations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7595235" y="3902710"/>
            <a:ext cx="3161665" cy="706755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server to connect to AOI stations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Box 40"/>
          <p:cNvSpPr txBox="1"/>
          <p:nvPr/>
        </p:nvSpPr>
        <p:spPr>
          <a:xfrm>
            <a:off x="7981950" y="5723255"/>
            <a:ext cx="3341370" cy="398780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vi-VN" alt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test and fix error code</a:t>
            </a:r>
            <a:endParaRPr lang="vi-VN" alt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1425575" y="3903980"/>
            <a:ext cx="2780665" cy="706755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 to manage MySQL data</a:t>
            </a:r>
            <a:endParaRPr lang="en-US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025" y="2666365"/>
            <a:ext cx="8664575" cy="40259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43735" y="136525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Change the website interface template</a:t>
            </a:r>
            <a:endParaRPr lang="en-US" altLang="en-US" sz="3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75" y="1210310"/>
            <a:ext cx="4001135" cy="138176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rot="5400000">
            <a:off x="3124200" y="2209800"/>
            <a:ext cx="573405" cy="668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8415" y="-13970"/>
            <a:ext cx="2964180" cy="68865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248660" y="207645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Oval 2"/>
          <p:cNvSpPr/>
          <p:nvPr/>
        </p:nvSpPr>
        <p:spPr>
          <a:xfrm>
            <a:off x="742315" y="207645"/>
            <a:ext cx="1515745" cy="14008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/>
              <a:t>Admin</a:t>
            </a:r>
            <a:endParaRPr lang="vi-VN" altLang="en-US" sz="2000" b="1"/>
          </a:p>
        </p:txBody>
      </p:sp>
      <p:grpSp>
        <p:nvGrpSpPr>
          <p:cNvPr id="9" name="Group 8"/>
          <p:cNvGrpSpPr/>
          <p:nvPr/>
        </p:nvGrpSpPr>
        <p:grpSpPr>
          <a:xfrm>
            <a:off x="255905" y="1932305"/>
            <a:ext cx="2487930" cy="4354830"/>
            <a:chOff x="929" y="2998"/>
            <a:chExt cx="3182" cy="495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ounded Rectangle 3"/>
            <p:cNvSpPr/>
            <p:nvPr/>
          </p:nvSpPr>
          <p:spPr>
            <a:xfrm>
              <a:off x="929" y="2998"/>
              <a:ext cx="3183" cy="990"/>
            </a:xfrm>
            <a:prstGeom prst="roundRect">
              <a:avLst/>
            </a:prstGeom>
            <a:grp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tx1"/>
                  </a:solidFill>
                </a:rPr>
                <a:t>HOME</a:t>
              </a:r>
              <a:endParaRPr lang="vi-VN" altLang="en-US" b="1">
                <a:solidFill>
                  <a:schemeClr val="tx1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29" y="3988"/>
              <a:ext cx="3183" cy="990"/>
            </a:xfrm>
            <a:prstGeom prst="roundRect">
              <a:avLst/>
            </a:prstGeom>
            <a:grp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USERS</a:t>
              </a:r>
              <a:endParaRPr lang="vi-VN" altLang="en-US" b="1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29" y="4978"/>
              <a:ext cx="3183" cy="990"/>
            </a:xfrm>
            <a:prstGeom prst="roundRect">
              <a:avLst/>
            </a:prstGeom>
            <a:grp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LINE</a:t>
              </a:r>
              <a:endParaRPr lang="vi-VN" altLang="en-US" b="1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9" y="5954"/>
              <a:ext cx="3183" cy="990"/>
            </a:xfrm>
            <a:prstGeom prst="roundRect">
              <a:avLst/>
            </a:prstGeom>
            <a:grp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STATION</a:t>
              </a:r>
              <a:endParaRPr lang="vi-VN" altLang="en-US" b="1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29" y="6960"/>
              <a:ext cx="3183" cy="990"/>
            </a:xfrm>
            <a:prstGeom prst="roundRect">
              <a:avLst/>
            </a:prstGeom>
            <a:grp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STATUS</a:t>
              </a:r>
              <a:endParaRPr lang="vi-VN" altLang="en-US" b="1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3555365" y="1875155"/>
            <a:ext cx="3507740" cy="9277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TOTAL LINE 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{count}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522845" y="1875155"/>
            <a:ext cx="3831590" cy="92773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TOTAL STATION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{count}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3248660" y="3342640"/>
          <a:ext cx="4848225" cy="2310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645"/>
                <a:gridCol w="969645"/>
                <a:gridCol w="969645"/>
                <a:gridCol w="969645"/>
                <a:gridCol w="969645"/>
              </a:tblGrid>
              <a:tr h="56261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AOI STATUS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924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5924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4B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Outernal AOI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13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562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4" name="Chart 13"/>
          <p:cNvGraphicFramePr/>
          <p:nvPr/>
        </p:nvGraphicFramePr>
        <p:xfrm>
          <a:off x="8160385" y="3071495"/>
          <a:ext cx="3776980" cy="3084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8415" y="-13970"/>
            <a:ext cx="2964180" cy="68865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382010" y="302260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Oval 2"/>
          <p:cNvSpPr/>
          <p:nvPr/>
        </p:nvSpPr>
        <p:spPr>
          <a:xfrm>
            <a:off x="742950" y="302260"/>
            <a:ext cx="1515745" cy="14008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/>
              <a:t>Admin</a:t>
            </a:r>
            <a:endParaRPr lang="vi-VN" altLang="en-US" sz="2000" b="1"/>
          </a:p>
        </p:txBody>
      </p:sp>
      <p:grpSp>
        <p:nvGrpSpPr>
          <p:cNvPr id="9" name="Group 8"/>
          <p:cNvGrpSpPr/>
          <p:nvPr/>
        </p:nvGrpSpPr>
        <p:grpSpPr>
          <a:xfrm>
            <a:off x="255905" y="1970405"/>
            <a:ext cx="2487930" cy="4354830"/>
            <a:chOff x="929" y="2998"/>
            <a:chExt cx="3182" cy="495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ounded Rectangle 3"/>
            <p:cNvSpPr/>
            <p:nvPr/>
          </p:nvSpPr>
          <p:spPr>
            <a:xfrm>
              <a:off x="929" y="299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HOME</a:t>
              </a:r>
              <a:endParaRPr lang="vi-VN" altLang="en-US" b="1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29" y="398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tx1"/>
                  </a:solidFill>
                </a:rPr>
                <a:t>USERS</a:t>
              </a:r>
              <a:endParaRPr lang="vi-VN" altLang="en-US" b="1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29" y="497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LINE</a:t>
              </a:r>
              <a:endParaRPr lang="vi-VN" altLang="en-US" b="1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9" y="5954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STATION</a:t>
              </a:r>
              <a:endParaRPr lang="vi-VN" altLang="en-US" b="1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29" y="6960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STATUS</a:t>
              </a:r>
              <a:endParaRPr lang="vi-VN" altLang="en-US" b="1"/>
            </a:p>
          </p:txBody>
        </p:sp>
      </p:grpSp>
      <p:graphicFrame>
        <p:nvGraphicFramePr>
          <p:cNvPr id="13" name="Table 12"/>
          <p:cNvGraphicFramePr/>
          <p:nvPr/>
        </p:nvGraphicFramePr>
        <p:xfrm>
          <a:off x="3382010" y="1839595"/>
          <a:ext cx="8477250" cy="461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695450"/>
                <a:gridCol w="1695450"/>
                <a:gridCol w="1695450"/>
                <a:gridCol w="1695450"/>
              </a:tblGrid>
              <a:tr h="113665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AOI STATUS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1179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PASSWORD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1766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4B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Outernal AOI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118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8415" y="-13970"/>
            <a:ext cx="2964180" cy="68865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382010" y="213995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Oval 2"/>
          <p:cNvSpPr/>
          <p:nvPr/>
        </p:nvSpPr>
        <p:spPr>
          <a:xfrm>
            <a:off x="742315" y="213995"/>
            <a:ext cx="1515745" cy="14008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/>
              <a:t>Admin</a:t>
            </a:r>
            <a:endParaRPr lang="vi-VN" altLang="en-US" sz="2000" b="1"/>
          </a:p>
        </p:txBody>
      </p:sp>
      <p:grpSp>
        <p:nvGrpSpPr>
          <p:cNvPr id="9" name="Group 8"/>
          <p:cNvGrpSpPr/>
          <p:nvPr/>
        </p:nvGrpSpPr>
        <p:grpSpPr>
          <a:xfrm>
            <a:off x="256540" y="2046605"/>
            <a:ext cx="2487930" cy="4354830"/>
            <a:chOff x="929" y="2998"/>
            <a:chExt cx="3182" cy="495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ounded Rectangle 3"/>
            <p:cNvSpPr/>
            <p:nvPr/>
          </p:nvSpPr>
          <p:spPr>
            <a:xfrm>
              <a:off x="929" y="299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HOME</a:t>
              </a:r>
              <a:endParaRPr lang="vi-VN" altLang="en-US" b="1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29" y="398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bg1"/>
                  </a:solidFill>
                </a:rPr>
                <a:t>USERS</a:t>
              </a:r>
              <a:endParaRPr lang="vi-VN" altLang="en-US" b="1">
                <a:solidFill>
                  <a:schemeClr val="bg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29" y="497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tx1"/>
                  </a:solidFill>
                </a:rPr>
                <a:t>LINE</a:t>
              </a:r>
              <a:endParaRPr lang="vi-VN" altLang="en-US" b="1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9" y="5954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STATION</a:t>
              </a:r>
              <a:endParaRPr lang="vi-VN" altLang="en-US" b="1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29" y="6960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STATUS</a:t>
              </a:r>
              <a:endParaRPr lang="vi-VN" altLang="en-US" b="1"/>
            </a:p>
          </p:txBody>
        </p:sp>
      </p:grpSp>
      <p:graphicFrame>
        <p:nvGraphicFramePr>
          <p:cNvPr id="13" name="Table 12"/>
          <p:cNvGraphicFramePr/>
          <p:nvPr/>
        </p:nvGraphicFramePr>
        <p:xfrm>
          <a:off x="3382010" y="1738630"/>
          <a:ext cx="8477250" cy="4662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695450"/>
                <a:gridCol w="1695450"/>
                <a:gridCol w="1695450"/>
                <a:gridCol w="1695450"/>
              </a:tblGrid>
              <a:tr h="1149985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AOI </a:t>
                      </a: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191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190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4B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Outernal AOI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130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8415" y="-13970"/>
            <a:ext cx="2964180" cy="68865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382010" y="302895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Oval 2"/>
          <p:cNvSpPr/>
          <p:nvPr/>
        </p:nvSpPr>
        <p:spPr>
          <a:xfrm>
            <a:off x="742950" y="302895"/>
            <a:ext cx="1515745" cy="14008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/>
              <a:t>Admin</a:t>
            </a:r>
            <a:endParaRPr lang="vi-VN" altLang="en-US" sz="2000" b="1"/>
          </a:p>
        </p:txBody>
      </p:sp>
      <p:grpSp>
        <p:nvGrpSpPr>
          <p:cNvPr id="9" name="Group 8"/>
          <p:cNvGrpSpPr/>
          <p:nvPr/>
        </p:nvGrpSpPr>
        <p:grpSpPr>
          <a:xfrm>
            <a:off x="255905" y="2122805"/>
            <a:ext cx="2487930" cy="4354830"/>
            <a:chOff x="929" y="2998"/>
            <a:chExt cx="3182" cy="495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ounded Rectangle 3"/>
            <p:cNvSpPr/>
            <p:nvPr/>
          </p:nvSpPr>
          <p:spPr>
            <a:xfrm>
              <a:off x="929" y="299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HOME</a:t>
              </a:r>
              <a:endParaRPr lang="vi-VN" altLang="en-US" b="1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29" y="398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bg1"/>
                  </a:solidFill>
                </a:rPr>
                <a:t>USERS</a:t>
              </a:r>
              <a:endParaRPr lang="vi-VN" altLang="en-US" b="1">
                <a:solidFill>
                  <a:schemeClr val="bg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29" y="497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LINE</a:t>
              </a:r>
              <a:endParaRPr lang="vi-VN" altLang="en-US" b="1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9" y="5954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tx1"/>
                  </a:solidFill>
                </a:rPr>
                <a:t>STATION</a:t>
              </a:r>
              <a:endParaRPr lang="vi-VN" altLang="en-US" b="1">
                <a:solidFill>
                  <a:schemeClr val="tx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29" y="6960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STATUS</a:t>
              </a:r>
              <a:endParaRPr lang="vi-VN" altLang="en-US" b="1"/>
            </a:p>
          </p:txBody>
        </p:sp>
      </p:grpSp>
      <p:graphicFrame>
        <p:nvGraphicFramePr>
          <p:cNvPr id="13" name="Table 12"/>
          <p:cNvGraphicFramePr/>
          <p:nvPr/>
        </p:nvGraphicFramePr>
        <p:xfrm>
          <a:off x="3382010" y="1703705"/>
          <a:ext cx="8477250" cy="4773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695450"/>
                <a:gridCol w="1695450"/>
                <a:gridCol w="1695450"/>
                <a:gridCol w="1695450"/>
              </a:tblGrid>
              <a:tr h="1176655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AOI </a:t>
                      </a: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220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2185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4B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Outernal AOI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158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8415" y="-13970"/>
            <a:ext cx="2964180" cy="68865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3210560" y="302895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Oval 2"/>
          <p:cNvSpPr/>
          <p:nvPr/>
        </p:nvSpPr>
        <p:spPr>
          <a:xfrm>
            <a:off x="742950" y="302895"/>
            <a:ext cx="1515745" cy="140081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2000" b="1"/>
              <a:t>Admin</a:t>
            </a:r>
            <a:endParaRPr lang="vi-VN" altLang="en-US" sz="2000" b="1"/>
          </a:p>
        </p:txBody>
      </p:sp>
      <p:grpSp>
        <p:nvGrpSpPr>
          <p:cNvPr id="9" name="Group 8"/>
          <p:cNvGrpSpPr/>
          <p:nvPr/>
        </p:nvGrpSpPr>
        <p:grpSpPr>
          <a:xfrm>
            <a:off x="256540" y="2097405"/>
            <a:ext cx="2487930" cy="4354830"/>
            <a:chOff x="929" y="2998"/>
            <a:chExt cx="3182" cy="495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ounded Rectangle 3"/>
            <p:cNvSpPr/>
            <p:nvPr/>
          </p:nvSpPr>
          <p:spPr>
            <a:xfrm>
              <a:off x="929" y="299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HOME</a:t>
              </a:r>
              <a:endParaRPr lang="vi-VN" altLang="en-US" b="1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29" y="398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bg1"/>
                  </a:solidFill>
                </a:rPr>
                <a:t>USERS</a:t>
              </a:r>
              <a:endParaRPr lang="vi-VN" altLang="en-US" b="1">
                <a:solidFill>
                  <a:schemeClr val="bg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29" y="4978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/>
                <a:t>LINE</a:t>
              </a:r>
              <a:endParaRPr lang="vi-VN" altLang="en-US" b="1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9" y="5954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bg1"/>
                  </a:solidFill>
                </a:rPr>
                <a:t>STATION</a:t>
              </a:r>
              <a:endParaRPr lang="vi-VN" altLang="en-US" b="1">
                <a:solidFill>
                  <a:schemeClr val="bg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29" y="6960"/>
              <a:ext cx="3183" cy="99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altLang="en-US" b="1">
                  <a:solidFill>
                    <a:schemeClr val="tx1"/>
                  </a:solidFill>
                </a:rPr>
                <a:t>STATUS</a:t>
              </a:r>
              <a:endParaRPr lang="vi-VN" altLang="en-US" b="1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3" name="Table 12"/>
          <p:cNvGraphicFramePr/>
          <p:nvPr/>
        </p:nvGraphicFramePr>
        <p:xfrm>
          <a:off x="3210560" y="1818005"/>
          <a:ext cx="8477250" cy="4532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695450"/>
                <a:gridCol w="1695450"/>
                <a:gridCol w="1695450"/>
                <a:gridCol w="1695450"/>
              </a:tblGrid>
              <a:tr h="1117600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AOI STATUS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158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vi-V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</a:t>
                      </a:r>
                      <a:endParaRPr lang="en-US" altLang="vi-VN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FAIL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157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4B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Outernal AOI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alt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{count}</a:t>
                      </a:r>
                      <a:endParaRPr lang="vi-V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  <a:tr h="1099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877185" y="676275"/>
            <a:ext cx="5828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Change the way to manage MySQL data</a:t>
            </a:r>
            <a:endParaRPr lang="en-US" sz="2400"/>
          </a:p>
        </p:txBody>
      </p:sp>
      <p:sp>
        <p:nvSpPr>
          <p:cNvPr id="3" name="Rounded Rectangle 2"/>
          <p:cNvSpPr/>
          <p:nvPr/>
        </p:nvSpPr>
        <p:spPr>
          <a:xfrm>
            <a:off x="1943735" y="136525"/>
            <a:ext cx="8474710" cy="1000125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Maintain to manage MySQL data</a:t>
            </a:r>
            <a:endParaRPr lang="en-US" altLang="en-US" sz="3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10" y="1296670"/>
            <a:ext cx="8340090" cy="54578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7145" y="-635"/>
            <a:ext cx="12193905" cy="3158490"/>
          </a:xfrm>
          <a:prstGeom prst="rect">
            <a:avLst/>
          </a:prstGeom>
          <a:blipFill rotWithShape="1">
            <a:blip r:embed="rId1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86180" y="526415"/>
            <a:ext cx="8382000" cy="2336800"/>
          </a:xfrm>
          <a:prstGeom prst="rect">
            <a:avLst/>
          </a:prstGeom>
          <a:solidFill>
            <a:srgbClr val="0A142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019935" y="854710"/>
            <a:ext cx="81013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vi-VN" sz="5000" b="1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FUTURE</a:t>
            </a:r>
            <a:r>
              <a:rPr lang="vi-VN" altLang="en-US" sz="5000" b="1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 PLAN</a:t>
            </a:r>
            <a:endParaRPr lang="vi-VN" altLang="en-US" sz="5000" b="1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  <a:p>
            <a:r>
              <a:rPr lang="vi-VN" altLang="en-US" sz="3000" b="1">
                <a:solidFill>
                  <a:schemeClr val="bg1"/>
                </a:solidFill>
                <a:latin typeface="Segoe UI Black" panose="020B0A02040204020203" charset="0"/>
                <a:cs typeface="Segoe UI Black" panose="020B0A02040204020203" charset="0"/>
              </a:rPr>
              <a:t>By Software Team</a:t>
            </a:r>
            <a:endParaRPr lang="vi-VN" altLang="en-US" sz="3000" b="1">
              <a:solidFill>
                <a:schemeClr val="bg1"/>
              </a:solidFill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" y="3441700"/>
            <a:ext cx="1435100" cy="1219200"/>
          </a:xfrm>
          <a:prstGeom prst="rect">
            <a:avLst/>
          </a:prstGeom>
          <a:blipFill rotWithShape="1">
            <a:blip r:embed="rId2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85180" y="5034915"/>
            <a:ext cx="1624965" cy="1472565"/>
          </a:xfrm>
          <a:prstGeom prst="rect">
            <a:avLst/>
          </a:prstGeom>
          <a:blipFill rotWithShape="1">
            <a:blip r:embed="rId3" cstate="print">
              <a:alphaModFix amt="73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656715" y="3462020"/>
            <a:ext cx="38855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Continue to develop and train models for new models at AOI stations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065010" y="4923790"/>
            <a:ext cx="53086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and improve software projects</a:t>
            </a:r>
            <a:r>
              <a:rPr lang="vi-V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vi-V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MAINTENANCE </a:t>
            </a:r>
            <a:r>
              <a:rPr lang="vi-V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REPORTING SYSTEM</a:t>
            </a:r>
            <a:r>
              <a:rPr lang="en-US" altLang="vi-V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(M.R.S.)</a:t>
            </a:r>
            <a:endParaRPr lang="vi-V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vi-V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STATUS </a:t>
            </a:r>
            <a:r>
              <a:rPr lang="en-US" altLang="vi-V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of AOI</a:t>
            </a:r>
            <a:r>
              <a:rPr lang="vi-V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MONITORING PROGRAM </a:t>
            </a:r>
            <a:r>
              <a:rPr lang="en-US" altLang="vi-VN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(S.A.M.P.)</a:t>
            </a:r>
            <a:endParaRPr lang="en-US" altLang="vi-VN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1" name="Straight Arrow Connector 10"/>
          <p:cNvCxnSpPr>
            <a:stCxn id="2" idx="2"/>
          </p:cNvCxnSpPr>
          <p:nvPr/>
        </p:nvCxnSpPr>
        <p:spPr>
          <a:xfrm flipH="1">
            <a:off x="6047740" y="3157855"/>
            <a:ext cx="32385" cy="3703955"/>
          </a:xfrm>
          <a:prstGeom prst="straightConnector1">
            <a:avLst/>
          </a:prstGeom>
          <a:ln w="38100">
            <a:solidFill>
              <a:srgbClr val="3D3859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-1270" y="4944745"/>
            <a:ext cx="12230100" cy="13970"/>
          </a:xfrm>
          <a:prstGeom prst="straightConnector1">
            <a:avLst/>
          </a:prstGeom>
          <a:ln w="38100">
            <a:solidFill>
              <a:srgbClr val="3D3859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22120" y="1952625"/>
            <a:ext cx="8968105" cy="2336800"/>
          </a:xfrm>
          <a:prstGeom prst="rect">
            <a:avLst/>
          </a:prstGeom>
          <a:solidFill>
            <a:srgbClr val="0A142F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en-US" sz="1000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Segoe UI Black" panose="020B0A02040204020203" charset="0"/>
                <a:cs typeface="Segoe UI Black" panose="020B0A02040204020203" charset="0"/>
              </a:rPr>
              <a:t>THANK YOU</a:t>
            </a:r>
            <a:r>
              <a:rPr lang="en-US" altLang="vi-VN" sz="1000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Segoe UI Black" panose="020B0A02040204020203" charset="0"/>
                <a:cs typeface="Segoe UI Black" panose="020B0A02040204020203" charset="0"/>
              </a:rPr>
              <a:t>!</a:t>
            </a:r>
            <a:endParaRPr lang="en-US" altLang="vi-VN" sz="10000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Segoe UI Black" panose="020B0A02040204020203" charset="0"/>
              <a:cs typeface="Segoe UI Black" panose="020B0A02040204020203" charset="0"/>
            </a:endParaRPr>
          </a:p>
        </p:txBody>
      </p:sp>
    </p:spTree>
  </p:cSld>
  <p:clrMapOvr>
    <a:masterClrMapping/>
  </p:clrMapOvr>
  <p:transition>
    <p:wedg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3900</Words>
  <Application>WPS Presentation</Application>
  <PresentationFormat>寬螢幕</PresentationFormat>
  <Paragraphs>469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SimSun</vt:lpstr>
      <vt:lpstr>Wingdings</vt:lpstr>
      <vt:lpstr>Calibri Light</vt:lpstr>
      <vt:lpstr>Amasis MT Pro Black</vt:lpstr>
      <vt:lpstr>Calibri</vt:lpstr>
      <vt:lpstr>Segoe UI Black</vt:lpstr>
      <vt:lpstr>DengXian</vt:lpstr>
      <vt:lpstr>Microsoft JhengHei</vt:lpstr>
      <vt:lpstr>Wingdings</vt:lpstr>
      <vt:lpstr>Times New Roman</vt:lpstr>
      <vt:lpstr>Times New Roman</vt:lpstr>
      <vt:lpstr>Microsoft JhengHei</vt:lpstr>
      <vt:lpstr>Microsoft YaHei</vt:lpstr>
      <vt:lpstr>Arial Unicode MS</vt:lpstr>
      <vt:lpstr>굴림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Linda1_Tran</dc:creator>
  <cp:lastModifiedBy>Linda1_Tran</cp:lastModifiedBy>
  <cp:revision>136</cp:revision>
  <dcterms:created xsi:type="dcterms:W3CDTF">2024-10-17T02:08:00Z</dcterms:created>
  <dcterms:modified xsi:type="dcterms:W3CDTF">2025-02-20T05:56:28Z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</Properties>
</file>